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88" r:id="rId2"/>
    <p:sldMasterId id="2147483674" r:id="rId3"/>
    <p:sldMasterId id="2147483676" r:id="rId4"/>
    <p:sldMasterId id="2147483664" r:id="rId5"/>
    <p:sldMasterId id="2147483666" r:id="rId6"/>
    <p:sldMasterId id="2147483668" r:id="rId7"/>
    <p:sldMasterId id="2147483672" r:id="rId8"/>
  </p:sldMasterIdLst>
  <p:notesMasterIdLst>
    <p:notesMasterId r:id="rId10"/>
  </p:notesMasterIdLst>
  <p:handoutMasterIdLst>
    <p:handoutMasterId r:id="rId11"/>
  </p:handoutMasterIdLst>
  <p:sldIdLst>
    <p:sldId id="264" r:id="rId9"/>
  </p:sldIdLst>
  <p:sldSz cx="21388388" cy="30279975"/>
  <p:notesSz cx="7104063" cy="10234613"/>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C8C8"/>
    <a:srgbClr val="E6E6E6"/>
    <a:srgbClr val="EBEBEB"/>
    <a:srgbClr val="A6ACF5"/>
    <a:srgbClr val="7A93DE"/>
    <a:srgbClr val="FF6A00"/>
    <a:srgbClr val="FFAA00"/>
    <a:srgbClr val="2A9C2A"/>
    <a:srgbClr val="FF6600"/>
    <a:srgbClr val="106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A91D6E-A7BC-57B3-1791-2021CD8C3C73}" v="14" dt="2025-12-10T22:38:08.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72" y="-4812"/>
      </p:cViewPr>
      <p:guideLst>
        <p:guide orient="horz"/>
        <p:guide pos="522"/>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3078658" cy="511654"/>
          </a:xfrm>
          <a:prstGeom prst="rect">
            <a:avLst/>
          </a:prstGeom>
          <a:noFill/>
          <a:ln w="9525">
            <a:noFill/>
            <a:miter lim="800000"/>
            <a:headEnd/>
            <a:tailEnd/>
          </a:ln>
          <a:effectLst/>
        </p:spPr>
        <p:txBody>
          <a:bodyPr vert="horz" wrap="square" lIns="44539" tIns="22270" rIns="44539" bIns="22270" numCol="1" anchor="t" anchorCtr="0" compatLnSpc="1">
            <a:prstTxWarp prst="textNoShape">
              <a:avLst/>
            </a:prstTxWarp>
          </a:bodyPr>
          <a:lstStyle>
            <a:lvl1pPr eaLnBrk="0" hangingPunct="0">
              <a:defRPr sz="600"/>
            </a:lvl1pPr>
          </a:lstStyle>
          <a:p>
            <a:pPr>
              <a:defRPr/>
            </a:pPr>
            <a:endParaRPr lang="en-GB"/>
          </a:p>
        </p:txBody>
      </p:sp>
      <p:sp>
        <p:nvSpPr>
          <p:cNvPr id="48131" name="Rectangle 3"/>
          <p:cNvSpPr>
            <a:spLocks noGrp="1" noChangeArrowheads="1"/>
          </p:cNvSpPr>
          <p:nvPr>
            <p:ph type="dt" sz="quarter" idx="1"/>
          </p:nvPr>
        </p:nvSpPr>
        <p:spPr bwMode="auto">
          <a:xfrm>
            <a:off x="4023867" y="0"/>
            <a:ext cx="3078658" cy="511654"/>
          </a:xfrm>
          <a:prstGeom prst="rect">
            <a:avLst/>
          </a:prstGeom>
          <a:noFill/>
          <a:ln w="9525">
            <a:noFill/>
            <a:miter lim="800000"/>
            <a:headEnd/>
            <a:tailEnd/>
          </a:ln>
          <a:effectLst/>
        </p:spPr>
        <p:txBody>
          <a:bodyPr vert="horz" wrap="square" lIns="44539" tIns="22270" rIns="44539" bIns="22270" numCol="1" anchor="t" anchorCtr="0" compatLnSpc="1">
            <a:prstTxWarp prst="textNoShape">
              <a:avLst/>
            </a:prstTxWarp>
          </a:bodyPr>
          <a:lstStyle>
            <a:lvl1pPr algn="r" eaLnBrk="0" hangingPunct="0">
              <a:defRPr sz="600"/>
            </a:lvl1pPr>
          </a:lstStyle>
          <a:p>
            <a:pPr>
              <a:defRPr/>
            </a:pPr>
            <a:endParaRPr lang="en-GB"/>
          </a:p>
        </p:txBody>
      </p:sp>
      <p:sp>
        <p:nvSpPr>
          <p:cNvPr id="48132" name="Rectangle 4"/>
          <p:cNvSpPr>
            <a:spLocks noGrp="1" noChangeArrowheads="1"/>
          </p:cNvSpPr>
          <p:nvPr>
            <p:ph type="ftr" sz="quarter" idx="2"/>
          </p:nvPr>
        </p:nvSpPr>
        <p:spPr bwMode="auto">
          <a:xfrm>
            <a:off x="0" y="9721408"/>
            <a:ext cx="3078658" cy="511653"/>
          </a:xfrm>
          <a:prstGeom prst="rect">
            <a:avLst/>
          </a:prstGeom>
          <a:noFill/>
          <a:ln w="9525">
            <a:noFill/>
            <a:miter lim="800000"/>
            <a:headEnd/>
            <a:tailEnd/>
          </a:ln>
          <a:effectLst/>
        </p:spPr>
        <p:txBody>
          <a:bodyPr vert="horz" wrap="square" lIns="44539" tIns="22270" rIns="44539" bIns="22270" numCol="1" anchor="b" anchorCtr="0" compatLnSpc="1">
            <a:prstTxWarp prst="textNoShape">
              <a:avLst/>
            </a:prstTxWarp>
          </a:bodyPr>
          <a:lstStyle>
            <a:lvl1pPr eaLnBrk="0" hangingPunct="0">
              <a:defRPr sz="600"/>
            </a:lvl1pPr>
          </a:lstStyle>
          <a:p>
            <a:pPr>
              <a:defRPr/>
            </a:pPr>
            <a:endParaRPr lang="en-GB"/>
          </a:p>
        </p:txBody>
      </p:sp>
      <p:sp>
        <p:nvSpPr>
          <p:cNvPr id="48133" name="Rectangle 5"/>
          <p:cNvSpPr>
            <a:spLocks noGrp="1" noChangeArrowheads="1"/>
          </p:cNvSpPr>
          <p:nvPr>
            <p:ph type="sldNum" sz="quarter" idx="3"/>
          </p:nvPr>
        </p:nvSpPr>
        <p:spPr bwMode="auto">
          <a:xfrm>
            <a:off x="4023867" y="9721408"/>
            <a:ext cx="3078658" cy="511653"/>
          </a:xfrm>
          <a:prstGeom prst="rect">
            <a:avLst/>
          </a:prstGeom>
          <a:noFill/>
          <a:ln w="9525">
            <a:noFill/>
            <a:miter lim="800000"/>
            <a:headEnd/>
            <a:tailEnd/>
          </a:ln>
          <a:effectLst/>
        </p:spPr>
        <p:txBody>
          <a:bodyPr vert="horz" wrap="square" lIns="44539" tIns="22270" rIns="44539" bIns="22270" numCol="1" anchor="b" anchorCtr="0" compatLnSpc="1">
            <a:prstTxWarp prst="textNoShape">
              <a:avLst/>
            </a:prstTxWarp>
          </a:bodyPr>
          <a:lstStyle>
            <a:lvl1pPr algn="r" eaLnBrk="0" hangingPunct="0">
              <a:defRPr sz="6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8658" cy="513206"/>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lvl1pPr defTabSz="990542" eaLnBrk="0" hangingPunct="0">
              <a:defRPr sz="1300"/>
            </a:lvl1pPr>
          </a:lstStyle>
          <a:p>
            <a:pPr>
              <a:defRPr/>
            </a:pPr>
            <a:endParaRPr lang="en-GB"/>
          </a:p>
        </p:txBody>
      </p:sp>
      <p:sp>
        <p:nvSpPr>
          <p:cNvPr id="4099" name="Rectangle 3"/>
          <p:cNvSpPr>
            <a:spLocks noGrp="1" noChangeArrowheads="1"/>
          </p:cNvSpPr>
          <p:nvPr>
            <p:ph type="dt" idx="1"/>
          </p:nvPr>
        </p:nvSpPr>
        <p:spPr bwMode="auto">
          <a:xfrm>
            <a:off x="4023867" y="0"/>
            <a:ext cx="3079427" cy="513206"/>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lvl1pPr algn="r" defTabSz="990542" eaLnBrk="0" hangingPunct="0">
              <a:defRPr sz="1300"/>
            </a:lvl1pPr>
          </a:lstStyle>
          <a:p>
            <a:pPr>
              <a:defRPr/>
            </a:pPr>
            <a:endParaRPr lang="en-GB"/>
          </a:p>
        </p:txBody>
      </p:sp>
      <p:sp>
        <p:nvSpPr>
          <p:cNvPr id="3076" name="Rectangle 4"/>
          <p:cNvSpPr>
            <a:spLocks noGrp="1" noRot="1" noChangeAspect="1" noChangeArrowheads="1" noTextEdit="1"/>
          </p:cNvSpPr>
          <p:nvPr>
            <p:ph type="sldImg" idx="2"/>
          </p:nvPr>
        </p:nvSpPr>
        <p:spPr bwMode="auto">
          <a:xfrm>
            <a:off x="2197100" y="766763"/>
            <a:ext cx="2713038" cy="3840162"/>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10637" y="4862645"/>
            <a:ext cx="5682789" cy="4604101"/>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9721408"/>
            <a:ext cx="3078658" cy="512429"/>
          </a:xfrm>
          <a:prstGeom prst="rect">
            <a:avLst/>
          </a:prstGeom>
          <a:noFill/>
          <a:ln w="9525">
            <a:noFill/>
            <a:miter lim="800000"/>
            <a:headEnd/>
            <a:tailEnd/>
          </a:ln>
          <a:effectLst/>
        </p:spPr>
        <p:txBody>
          <a:bodyPr vert="horz" wrap="square" lIns="98999" tIns="49501" rIns="98999" bIns="49501" numCol="1" anchor="b" anchorCtr="0" compatLnSpc="1">
            <a:prstTxWarp prst="textNoShape">
              <a:avLst/>
            </a:prstTxWarp>
          </a:bodyPr>
          <a:lstStyle>
            <a:lvl1pPr defTabSz="990542" eaLnBrk="0" hangingPunct="0">
              <a:defRPr sz="1300"/>
            </a:lvl1pPr>
          </a:lstStyle>
          <a:p>
            <a:pPr>
              <a:defRPr/>
            </a:pPr>
            <a:endParaRPr lang="en-GB"/>
          </a:p>
        </p:txBody>
      </p:sp>
      <p:sp>
        <p:nvSpPr>
          <p:cNvPr id="4103" name="Rectangle 7"/>
          <p:cNvSpPr>
            <a:spLocks noGrp="1" noChangeArrowheads="1"/>
          </p:cNvSpPr>
          <p:nvPr>
            <p:ph type="sldNum" sz="quarter" idx="5"/>
          </p:nvPr>
        </p:nvSpPr>
        <p:spPr bwMode="auto">
          <a:xfrm>
            <a:off x="4023867" y="9721408"/>
            <a:ext cx="3079427" cy="512429"/>
          </a:xfrm>
          <a:prstGeom prst="rect">
            <a:avLst/>
          </a:prstGeom>
          <a:noFill/>
          <a:ln w="9525">
            <a:noFill/>
            <a:miter lim="800000"/>
            <a:headEnd/>
            <a:tailEnd/>
          </a:ln>
          <a:effectLst/>
        </p:spPr>
        <p:txBody>
          <a:bodyPr vert="horz" wrap="square" lIns="98999" tIns="49501" rIns="98999" bIns="49501" numCol="1" anchor="b" anchorCtr="0" compatLnSpc="1">
            <a:prstTxWarp prst="textNoShape">
              <a:avLst/>
            </a:prstTxWarp>
          </a:bodyPr>
          <a:lstStyle>
            <a:lvl1pPr algn="r" defTabSz="990542" eaLnBrk="0" hangingPunct="0">
              <a:defRPr sz="13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5BA31-3F85-0EAC-01E3-B4D76271D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52A6D-4B1A-F274-4279-4C36340F4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96E77-BBFA-96E5-59A5-62AB791FC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C8B22-62CD-C585-6293-F6C55EB19679}"/>
              </a:ext>
            </a:extLst>
          </p:cNvPr>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33316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455613" marR="0" lvl="1"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455613" marR="0" lvl="2"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455613" marR="0" lvl="3"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
        <p:nvSpPr>
          <p:cNvPr id="2" name="Title 1"/>
          <p:cNvSpPr>
            <a:spLocks noGrp="1"/>
          </p:cNvSpPr>
          <p:nvPr>
            <p:ph type="title"/>
          </p:nvPr>
        </p:nvSpPr>
        <p:spPr/>
        <p:txBody>
          <a:bodyPr/>
          <a:lstStyle>
            <a:lvl1pPr>
              <a:defRPr b="1" baseline="-25000"/>
            </a:lvl1pPr>
          </a:lstStyle>
          <a:p>
            <a:r>
              <a:rPr lang="en-US"/>
              <a:t>Click to edit Master title style</a:t>
            </a:r>
            <a:endParaRPr lang="en-GB"/>
          </a:p>
        </p:txBody>
      </p:sp>
    </p:spTree>
    <p:extLst>
      <p:ext uri="{BB962C8B-B14F-4D97-AF65-F5344CB8AC3E}">
        <p14:creationId xmlns:p14="http://schemas.microsoft.com/office/powerpoint/2010/main" val="179673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477C-8B24-798A-3072-7BFC791CAB23}"/>
              </a:ext>
            </a:extLst>
          </p:cNvPr>
          <p:cNvSpPr>
            <a:spLocks noGrp="1"/>
          </p:cNvSpPr>
          <p:nvPr>
            <p:ph type="ctrTitle"/>
          </p:nvPr>
        </p:nvSpPr>
        <p:spPr>
          <a:xfrm>
            <a:off x="2673350" y="4956175"/>
            <a:ext cx="16041688" cy="105410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BA35B31-0ED4-E32C-309C-5B35CE931CE1}"/>
              </a:ext>
            </a:extLst>
          </p:cNvPr>
          <p:cNvSpPr>
            <a:spLocks noGrp="1"/>
          </p:cNvSpPr>
          <p:nvPr>
            <p:ph type="subTitle" idx="1"/>
          </p:nvPr>
        </p:nvSpPr>
        <p:spPr>
          <a:xfrm>
            <a:off x="2673350" y="15903575"/>
            <a:ext cx="16041688" cy="7310438"/>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C959300-C580-1839-9011-3CE1B02D0BDF}"/>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164E830D-3050-AAB1-561C-2981F2A440D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137331-0B14-AB41-B643-AEFAF9DC54EF}"/>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401899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3FDF-DBCF-D864-E409-98FFE3CC3A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943F115-E406-CA16-E339-0E3CF6EFDA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52D152-70F8-2600-3EE2-471607631DA8}"/>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B4B09832-76AC-BC34-3E07-BB354FDA22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F5C7EF-180B-B369-CAD0-5EB37FD742CC}"/>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46366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0BDD-A1E9-5149-59D0-E1663FDA04F1}"/>
              </a:ext>
            </a:extLst>
          </p:cNvPr>
          <p:cNvSpPr>
            <a:spLocks noGrp="1"/>
          </p:cNvSpPr>
          <p:nvPr>
            <p:ph type="title"/>
          </p:nvPr>
        </p:nvSpPr>
        <p:spPr>
          <a:xfrm>
            <a:off x="1458913" y="7548563"/>
            <a:ext cx="18448337" cy="12596812"/>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0B62C9B-654F-0406-E95F-4D694DE98852}"/>
              </a:ext>
            </a:extLst>
          </p:cNvPr>
          <p:cNvSpPr>
            <a:spLocks noGrp="1"/>
          </p:cNvSpPr>
          <p:nvPr>
            <p:ph type="body" idx="1"/>
          </p:nvPr>
        </p:nvSpPr>
        <p:spPr>
          <a:xfrm>
            <a:off x="1458913" y="20264438"/>
            <a:ext cx="18448337" cy="662305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4FAC54-2FF1-48D7-612C-A6F7239416F6}"/>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4288391A-2AF7-FE18-16B1-B2413AC5D3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A539ED-1BD8-E446-FF63-C4F0134A59E7}"/>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053609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A81D-D226-BEB7-2793-192EDA5FD42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0C723CA-ECAD-8145-EE6D-871B6F4A2005}"/>
              </a:ext>
            </a:extLst>
          </p:cNvPr>
          <p:cNvSpPr>
            <a:spLocks noGrp="1"/>
          </p:cNvSpPr>
          <p:nvPr>
            <p:ph sz="half" idx="1"/>
          </p:nvPr>
        </p:nvSpPr>
        <p:spPr>
          <a:xfrm>
            <a:off x="1470025" y="8061325"/>
            <a:ext cx="9147175"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D44791F-7AE7-881F-F8F1-17A147B66742}"/>
              </a:ext>
            </a:extLst>
          </p:cNvPr>
          <p:cNvSpPr>
            <a:spLocks noGrp="1"/>
          </p:cNvSpPr>
          <p:nvPr>
            <p:ph sz="half" idx="2"/>
          </p:nvPr>
        </p:nvSpPr>
        <p:spPr>
          <a:xfrm>
            <a:off x="10769600" y="8061325"/>
            <a:ext cx="9148763"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ED44B2-29EB-5914-9901-009FB7830749}"/>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6" name="Footer Placeholder 5">
            <a:extLst>
              <a:ext uri="{FF2B5EF4-FFF2-40B4-BE49-F238E27FC236}">
                <a16:creationId xmlns:a16="http://schemas.microsoft.com/office/drawing/2014/main" id="{1557CED6-5A9B-DDEA-9DFE-70E0BE3065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C6CF82-4EDC-EC96-235A-2A72E2824EF1}"/>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20318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58406-1A03-0FD7-0684-378BF3BDA75A}"/>
              </a:ext>
            </a:extLst>
          </p:cNvPr>
          <p:cNvSpPr>
            <a:spLocks noGrp="1"/>
          </p:cNvSpPr>
          <p:nvPr>
            <p:ph type="title"/>
          </p:nvPr>
        </p:nvSpPr>
        <p:spPr>
          <a:xfrm>
            <a:off x="1473200" y="1612900"/>
            <a:ext cx="18446750" cy="58515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7458084-C293-7D6D-7E92-C781D321AF4F}"/>
              </a:ext>
            </a:extLst>
          </p:cNvPr>
          <p:cNvSpPr>
            <a:spLocks noGrp="1"/>
          </p:cNvSpPr>
          <p:nvPr>
            <p:ph type="body" idx="1"/>
          </p:nvPr>
        </p:nvSpPr>
        <p:spPr>
          <a:xfrm>
            <a:off x="1473200" y="7423150"/>
            <a:ext cx="9048750"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DF7B8B-133C-CC55-3374-E595BA5F0976}"/>
              </a:ext>
            </a:extLst>
          </p:cNvPr>
          <p:cNvSpPr>
            <a:spLocks noGrp="1"/>
          </p:cNvSpPr>
          <p:nvPr>
            <p:ph sz="half" idx="2"/>
          </p:nvPr>
        </p:nvSpPr>
        <p:spPr>
          <a:xfrm>
            <a:off x="1473200" y="11060113"/>
            <a:ext cx="9048750"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B0DB511-F5D8-50F7-23FE-6AF6DAB12E3F}"/>
              </a:ext>
            </a:extLst>
          </p:cNvPr>
          <p:cNvSpPr>
            <a:spLocks noGrp="1"/>
          </p:cNvSpPr>
          <p:nvPr>
            <p:ph type="body" sz="quarter" idx="3"/>
          </p:nvPr>
        </p:nvSpPr>
        <p:spPr>
          <a:xfrm>
            <a:off x="10828338" y="7423150"/>
            <a:ext cx="9091612"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C5CAA8-3359-5850-7338-E23E6D147BD3}"/>
              </a:ext>
            </a:extLst>
          </p:cNvPr>
          <p:cNvSpPr>
            <a:spLocks noGrp="1"/>
          </p:cNvSpPr>
          <p:nvPr>
            <p:ph sz="quarter" idx="4"/>
          </p:nvPr>
        </p:nvSpPr>
        <p:spPr>
          <a:xfrm>
            <a:off x="10828338" y="11060113"/>
            <a:ext cx="9091612"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810BF8B-375B-38DD-72F3-C0E529D4CC55}"/>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8" name="Footer Placeholder 7">
            <a:extLst>
              <a:ext uri="{FF2B5EF4-FFF2-40B4-BE49-F238E27FC236}">
                <a16:creationId xmlns:a16="http://schemas.microsoft.com/office/drawing/2014/main" id="{CD085450-8D22-89ED-80A7-43E6845DE0E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016F8B7-9E9A-C751-200A-3D25C3223813}"/>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2198555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B328-C169-FA17-8A33-4451DB4701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FC7C861-4CFC-71BF-445A-BBBEF3E43150}"/>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4" name="Footer Placeholder 3">
            <a:extLst>
              <a:ext uri="{FF2B5EF4-FFF2-40B4-BE49-F238E27FC236}">
                <a16:creationId xmlns:a16="http://schemas.microsoft.com/office/drawing/2014/main" id="{C2275A62-FC38-FCFD-6645-6BFCEB9015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AB1A7AA-B384-5F78-0203-B6EBAB008678}"/>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83765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32FF8-ABDE-570E-E7AF-B22D741FF442}"/>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3" name="Footer Placeholder 2">
            <a:extLst>
              <a:ext uri="{FF2B5EF4-FFF2-40B4-BE49-F238E27FC236}">
                <a16:creationId xmlns:a16="http://schemas.microsoft.com/office/drawing/2014/main" id="{2174ABFF-718A-7480-B4FB-03868541AFE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FC22DAB-DF56-56CD-5CCF-CA3B3FF67EA4}"/>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1418679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205F-7138-B240-23FB-670974D00A3C}"/>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F9B6DC3-D73E-FBD2-23D2-77859D8B0F6B}"/>
              </a:ext>
            </a:extLst>
          </p:cNvPr>
          <p:cNvSpPr>
            <a:spLocks noGrp="1"/>
          </p:cNvSpPr>
          <p:nvPr>
            <p:ph idx="1"/>
          </p:nvPr>
        </p:nvSpPr>
        <p:spPr>
          <a:xfrm>
            <a:off x="9093200" y="4359275"/>
            <a:ext cx="10826750" cy="21518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2214B58-BAB2-B7E0-2447-E531F96F9DED}"/>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CC8A05-F8F6-C0AD-FADE-3E67095FAA7F}"/>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6" name="Footer Placeholder 5">
            <a:extLst>
              <a:ext uri="{FF2B5EF4-FFF2-40B4-BE49-F238E27FC236}">
                <a16:creationId xmlns:a16="http://schemas.microsoft.com/office/drawing/2014/main" id="{F6761E73-7D19-D194-27A0-BD47D8776F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52D5AE-ABB9-D405-5C88-743D2E3D573B}"/>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79610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18A26-E602-C8CC-A690-9E735274EBD2}"/>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5D991F4-FC01-61BE-1287-C28F4244B7C5}"/>
              </a:ext>
            </a:extLst>
          </p:cNvPr>
          <p:cNvSpPr>
            <a:spLocks noGrp="1"/>
          </p:cNvSpPr>
          <p:nvPr>
            <p:ph type="pic" idx="1"/>
          </p:nvPr>
        </p:nvSpPr>
        <p:spPr>
          <a:xfrm>
            <a:off x="9093200" y="4359275"/>
            <a:ext cx="10826750" cy="21518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CDD8737-142E-036E-E817-8C1002B40D6B}"/>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7897F-8EC1-CA0D-D78B-5F99A2802399}"/>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6" name="Footer Placeholder 5">
            <a:extLst>
              <a:ext uri="{FF2B5EF4-FFF2-40B4-BE49-F238E27FC236}">
                <a16:creationId xmlns:a16="http://schemas.microsoft.com/office/drawing/2014/main" id="{06987388-FB8E-93B2-1D5D-4783ED5EC8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6C95CE-238B-01E5-4DD4-E19BFA242DE1}"/>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711884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B53-B048-CF41-FE35-830207687C9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3616D94-9B48-F16F-E3E5-DBE8AAA8C4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F244CD-70B3-92D7-E238-C1702183F562}"/>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5DF9EFFD-96C8-DAE4-032A-6A6BE3ABFE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11E9A5-C716-2922-7E36-A8C0F82F73F5}"/>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2548982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0EA0EA-A618-DCD0-5645-C77BF5CAEE2F}"/>
              </a:ext>
            </a:extLst>
          </p:cNvPr>
          <p:cNvSpPr>
            <a:spLocks noGrp="1"/>
          </p:cNvSpPr>
          <p:nvPr>
            <p:ph type="title" orient="vert"/>
          </p:nvPr>
        </p:nvSpPr>
        <p:spPr>
          <a:xfrm>
            <a:off x="15306675" y="1612900"/>
            <a:ext cx="4611688" cy="256603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1945C37-07F3-89E8-7A56-7BD16D3555C3}"/>
              </a:ext>
            </a:extLst>
          </p:cNvPr>
          <p:cNvSpPr>
            <a:spLocks noGrp="1"/>
          </p:cNvSpPr>
          <p:nvPr>
            <p:ph type="body" orient="vert" idx="1"/>
          </p:nvPr>
        </p:nvSpPr>
        <p:spPr>
          <a:xfrm>
            <a:off x="1470025" y="1612900"/>
            <a:ext cx="13684250" cy="25660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D699C0-126A-BC29-37BA-5335D854CDD0}"/>
              </a:ext>
            </a:extLst>
          </p:cNvPr>
          <p:cNvSpPr>
            <a:spLocks noGrp="1"/>
          </p:cNvSpPr>
          <p:nvPr>
            <p:ph type="dt" sz="half" idx="10"/>
          </p:nvPr>
        </p:nvSpPr>
        <p:spPr/>
        <p:txBody>
          <a:body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7710A832-462C-15D2-3CBF-73AFCC377D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6B46E9-D094-50ED-6C17-7E5F6F5A441E}"/>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1607670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2798-0D02-F91E-D1D9-F123429E8252}"/>
              </a:ext>
            </a:extLst>
          </p:cNvPr>
          <p:cNvSpPr>
            <a:spLocks noGrp="1"/>
          </p:cNvSpPr>
          <p:nvPr>
            <p:ph type="ctrTitle"/>
          </p:nvPr>
        </p:nvSpPr>
        <p:spPr>
          <a:xfrm>
            <a:off x="2673350" y="4956175"/>
            <a:ext cx="16041688" cy="105410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59F8B1-50A5-DCB8-8BDA-593A066C81B1}"/>
              </a:ext>
            </a:extLst>
          </p:cNvPr>
          <p:cNvSpPr>
            <a:spLocks noGrp="1"/>
          </p:cNvSpPr>
          <p:nvPr>
            <p:ph type="subTitle" idx="1"/>
          </p:nvPr>
        </p:nvSpPr>
        <p:spPr>
          <a:xfrm>
            <a:off x="2673350" y="15903575"/>
            <a:ext cx="16041688" cy="7310438"/>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322BAB0-78C5-CDE6-EA61-8A14825DC320}"/>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9DB26F2D-0AA1-B769-4481-55EF2E82CC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E18062-719D-275E-0A78-F9DD2E0BA804}"/>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096306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5144F-6E04-F92A-E808-2992CBADC1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5EBB7E7-435D-12A4-E1FF-3B1169A4CA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13DB69-E95F-8501-8E06-9CFCC58E3D93}"/>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1F041379-7110-BEF8-7EE0-83C1855DC7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90C01F-D962-9A32-8A48-766956CF10CB}"/>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204245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212F-17AB-0D82-9B51-29CE96ECC14F}"/>
              </a:ext>
            </a:extLst>
          </p:cNvPr>
          <p:cNvSpPr>
            <a:spLocks noGrp="1"/>
          </p:cNvSpPr>
          <p:nvPr>
            <p:ph type="title"/>
          </p:nvPr>
        </p:nvSpPr>
        <p:spPr>
          <a:xfrm>
            <a:off x="1458913" y="7548563"/>
            <a:ext cx="18448337" cy="12596812"/>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C8F2BF0-6BB9-046E-3196-5CD5BF297049}"/>
              </a:ext>
            </a:extLst>
          </p:cNvPr>
          <p:cNvSpPr>
            <a:spLocks noGrp="1"/>
          </p:cNvSpPr>
          <p:nvPr>
            <p:ph type="body" idx="1"/>
          </p:nvPr>
        </p:nvSpPr>
        <p:spPr>
          <a:xfrm>
            <a:off x="1458913" y="20264438"/>
            <a:ext cx="18448337" cy="662305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96713A-217B-CD20-A709-4971B715A993}"/>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30086E7A-298B-EC3A-688B-F5FC209E8A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332C30-D924-2AEB-DA28-789BBDECBB3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378872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7D4A6-372E-1B33-BEEC-B1715F26B1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B7A3B4A-353D-E4C8-7E09-188F08AA1245}"/>
              </a:ext>
            </a:extLst>
          </p:cNvPr>
          <p:cNvSpPr>
            <a:spLocks noGrp="1"/>
          </p:cNvSpPr>
          <p:nvPr>
            <p:ph sz="half" idx="1"/>
          </p:nvPr>
        </p:nvSpPr>
        <p:spPr>
          <a:xfrm>
            <a:off x="1470025" y="8061325"/>
            <a:ext cx="9147175"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4D9C7B3-EA03-8A1E-A69B-E19548090A08}"/>
              </a:ext>
            </a:extLst>
          </p:cNvPr>
          <p:cNvSpPr>
            <a:spLocks noGrp="1"/>
          </p:cNvSpPr>
          <p:nvPr>
            <p:ph sz="half" idx="2"/>
          </p:nvPr>
        </p:nvSpPr>
        <p:spPr>
          <a:xfrm>
            <a:off x="10769600" y="8061325"/>
            <a:ext cx="9148763"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6B74FB8-CC61-207B-4294-26840CE092AD}"/>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6" name="Footer Placeholder 5">
            <a:extLst>
              <a:ext uri="{FF2B5EF4-FFF2-40B4-BE49-F238E27FC236}">
                <a16:creationId xmlns:a16="http://schemas.microsoft.com/office/drawing/2014/main" id="{9530CE2D-643A-EFBF-A472-1C3B3FA455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2BF691-9451-53B0-1B30-14660D121C06}"/>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2194765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CE6-CCCD-8F14-70EF-833DAFDC3763}"/>
              </a:ext>
            </a:extLst>
          </p:cNvPr>
          <p:cNvSpPr>
            <a:spLocks noGrp="1"/>
          </p:cNvSpPr>
          <p:nvPr>
            <p:ph type="title"/>
          </p:nvPr>
        </p:nvSpPr>
        <p:spPr>
          <a:xfrm>
            <a:off x="1473200" y="1612900"/>
            <a:ext cx="18446750" cy="58515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E49DE5-59C8-3555-F308-C3BF95172BC7}"/>
              </a:ext>
            </a:extLst>
          </p:cNvPr>
          <p:cNvSpPr>
            <a:spLocks noGrp="1"/>
          </p:cNvSpPr>
          <p:nvPr>
            <p:ph type="body" idx="1"/>
          </p:nvPr>
        </p:nvSpPr>
        <p:spPr>
          <a:xfrm>
            <a:off x="1473200" y="7423150"/>
            <a:ext cx="9048750"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575DC-F2C7-8137-345E-729A835A2319}"/>
              </a:ext>
            </a:extLst>
          </p:cNvPr>
          <p:cNvSpPr>
            <a:spLocks noGrp="1"/>
          </p:cNvSpPr>
          <p:nvPr>
            <p:ph sz="half" idx="2"/>
          </p:nvPr>
        </p:nvSpPr>
        <p:spPr>
          <a:xfrm>
            <a:off x="1473200" y="11060113"/>
            <a:ext cx="9048750"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17988E3-F807-338F-A1B3-E66913E1CF7B}"/>
              </a:ext>
            </a:extLst>
          </p:cNvPr>
          <p:cNvSpPr>
            <a:spLocks noGrp="1"/>
          </p:cNvSpPr>
          <p:nvPr>
            <p:ph type="body" sz="quarter" idx="3"/>
          </p:nvPr>
        </p:nvSpPr>
        <p:spPr>
          <a:xfrm>
            <a:off x="10828338" y="7423150"/>
            <a:ext cx="9091612"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6E3A0A-DC3B-B306-7DAD-4FECB1EC4071}"/>
              </a:ext>
            </a:extLst>
          </p:cNvPr>
          <p:cNvSpPr>
            <a:spLocks noGrp="1"/>
          </p:cNvSpPr>
          <p:nvPr>
            <p:ph sz="quarter" idx="4"/>
          </p:nvPr>
        </p:nvSpPr>
        <p:spPr>
          <a:xfrm>
            <a:off x="10828338" y="11060113"/>
            <a:ext cx="9091612"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6CC9289-8D7B-B173-07F3-5568838D4F72}"/>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8" name="Footer Placeholder 7">
            <a:extLst>
              <a:ext uri="{FF2B5EF4-FFF2-40B4-BE49-F238E27FC236}">
                <a16:creationId xmlns:a16="http://schemas.microsoft.com/office/drawing/2014/main" id="{8A595199-511E-4D2F-87AA-7161B181CE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9E1AB15-8F29-E2F8-FD94-99E9A496EFBD}"/>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333823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FEB0-AEAE-98DA-B887-9F53F6FB85B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27BD16B-7ACB-84E1-0E98-8BB7C1AA5C62}"/>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4" name="Footer Placeholder 3">
            <a:extLst>
              <a:ext uri="{FF2B5EF4-FFF2-40B4-BE49-F238E27FC236}">
                <a16:creationId xmlns:a16="http://schemas.microsoft.com/office/drawing/2014/main" id="{C8F05E9A-CEE1-321A-6523-89CD3626686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E4FCE8B-B74F-F6E3-3F24-EADCD23E9FF5}"/>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44896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BA3D2-B8B2-C68E-1494-3DD84D3E0EAE}"/>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3" name="Footer Placeholder 2">
            <a:extLst>
              <a:ext uri="{FF2B5EF4-FFF2-40B4-BE49-F238E27FC236}">
                <a16:creationId xmlns:a16="http://schemas.microsoft.com/office/drawing/2014/main" id="{FB10D693-FD4E-D48F-C9B2-A459CF3E818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F9FBE36-AB8D-954F-8B68-F50B638CEB6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0227839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391D0-D694-22EA-E20B-A3BBC33CCB28}"/>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F1A907-F667-CCAD-335F-9AC26B41CCC3}"/>
              </a:ext>
            </a:extLst>
          </p:cNvPr>
          <p:cNvSpPr>
            <a:spLocks noGrp="1"/>
          </p:cNvSpPr>
          <p:nvPr>
            <p:ph idx="1"/>
          </p:nvPr>
        </p:nvSpPr>
        <p:spPr>
          <a:xfrm>
            <a:off x="9093200" y="4359275"/>
            <a:ext cx="10826750" cy="21518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3234EC8-7608-469F-F478-C504A80B48E9}"/>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6B57D-EE7F-5DA3-5152-54EC9765406A}"/>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6" name="Footer Placeholder 5">
            <a:extLst>
              <a:ext uri="{FF2B5EF4-FFF2-40B4-BE49-F238E27FC236}">
                <a16:creationId xmlns:a16="http://schemas.microsoft.com/office/drawing/2014/main" id="{A808D7FF-62D5-743A-F41B-F51911CEE8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1D8B6D-1C48-C458-68DB-92FDF4DF0C26}"/>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8045262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1B3D-D0DD-4BD4-D289-3E25153F4B68}"/>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7294A8-9457-4ABC-AA86-3E17CE32E607}"/>
              </a:ext>
            </a:extLst>
          </p:cNvPr>
          <p:cNvSpPr>
            <a:spLocks noGrp="1"/>
          </p:cNvSpPr>
          <p:nvPr>
            <p:ph type="pic" idx="1"/>
          </p:nvPr>
        </p:nvSpPr>
        <p:spPr>
          <a:xfrm>
            <a:off x="9093200" y="4359275"/>
            <a:ext cx="10826750" cy="21518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B90F456-F576-BC37-88BD-0E468E822CC7}"/>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AF1C11-663C-911A-834F-9EAD9A3BB17D}"/>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6" name="Footer Placeholder 5">
            <a:extLst>
              <a:ext uri="{FF2B5EF4-FFF2-40B4-BE49-F238E27FC236}">
                <a16:creationId xmlns:a16="http://schemas.microsoft.com/office/drawing/2014/main" id="{85F5C2A7-16AB-8BC6-901F-A1B963A16D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6F0F22-6283-C741-930B-D179C52A6611}"/>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406580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2C89-E030-5F0B-4F9C-5AA46110A6C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F85962-24AB-D3A0-4699-FEAF24D300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432D01-BEDD-ACD0-89CF-07F2BDA5E022}"/>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B5137E9C-6FEA-F709-6DBC-2747A68F2F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058C71-619B-112E-CF8B-A3EC28D036BA}"/>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6383997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A8A876-C2F0-F3AD-6866-1E2C3BEFC92E}"/>
              </a:ext>
            </a:extLst>
          </p:cNvPr>
          <p:cNvSpPr>
            <a:spLocks noGrp="1"/>
          </p:cNvSpPr>
          <p:nvPr>
            <p:ph type="title" orient="vert"/>
          </p:nvPr>
        </p:nvSpPr>
        <p:spPr>
          <a:xfrm>
            <a:off x="15306675" y="1612900"/>
            <a:ext cx="4611688" cy="256603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95A44C-915A-CCA2-9FDC-E9C5E800FEB6}"/>
              </a:ext>
            </a:extLst>
          </p:cNvPr>
          <p:cNvSpPr>
            <a:spLocks noGrp="1"/>
          </p:cNvSpPr>
          <p:nvPr>
            <p:ph type="body" orient="vert" idx="1"/>
          </p:nvPr>
        </p:nvSpPr>
        <p:spPr>
          <a:xfrm>
            <a:off x="1470025" y="1612900"/>
            <a:ext cx="13684250" cy="25660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5CD6BE-2F93-7244-0EAC-30F9CC4A8234}"/>
              </a:ext>
            </a:extLst>
          </p:cNvPr>
          <p:cNvSpPr>
            <a:spLocks noGrp="1"/>
          </p:cNvSpPr>
          <p:nvPr>
            <p:ph type="dt" sz="half" idx="10"/>
          </p:nvPr>
        </p:nvSpPr>
        <p:spPr/>
        <p:txBody>
          <a:body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0B5418A1-053E-209E-663A-ACA66AF3A9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C7ACD3-DCEA-7406-B463-1825E871B9E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2008193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34424"/>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Zeynep Velioglu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Faustina Hwang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William Harwin</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668338" y="1811338"/>
            <a:ext cx="8201778" cy="369332"/>
          </a:xfrm>
          <a:prstGeom prst="rect">
            <a:avLst/>
          </a:prstGeom>
          <a:noFill/>
          <a:ln w="9525">
            <a:noFill/>
            <a:miter lim="800000"/>
            <a:headEnd/>
            <a:tailEnd/>
          </a:ln>
        </p:spPr>
        <p:txBody>
          <a:bodyPr wrap="square" lIns="0" tIns="0" rIns="0" bIns="0">
            <a:spAutoFit/>
          </a:bodyPr>
          <a:lstStyle/>
          <a:p>
            <a:pPr defTabSz="912813" eaLnBrk="0" hangingPunct="0">
              <a:spcBef>
                <a:spcPct val="50000"/>
              </a:spcBef>
              <a:defRPr/>
            </a:pPr>
            <a:r>
              <a:rPr lang="en-GB" sz="2400" dirty="0">
                <a:solidFill>
                  <a:srgbClr val="FFFFFF"/>
                </a:solidFill>
                <a:latin typeface="Arial" panose="020B0604020202020204" pitchFamily="34" charset="0"/>
                <a:cs typeface="Arial" panose="020B0604020202020204" pitchFamily="34" charset="0"/>
              </a:rPr>
              <a:t>Biomedical Engineering  School of Biological Sciences</a:t>
            </a:r>
            <a:endParaRPr lang="en-GB" sz="2300" b="1" dirty="0">
              <a:solidFill>
                <a:srgbClr val="FFFFFF"/>
              </a:solidFill>
              <a:latin typeface="Arial" panose="020B0604020202020204" pitchFamily="34" charset="0"/>
              <a:cs typeface="Arial" panose="020B0604020202020204" pitchFamily="34" charset="0"/>
            </a:endParaRP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3AE42C-DB1B-4069-956F-61FE3A9D7150}"/>
              </a:ext>
            </a:extLst>
          </p:cNvPr>
          <p:cNvSpPr>
            <a:spLocks noGrp="1"/>
          </p:cNvSpPr>
          <p:nvPr>
            <p:ph type="title"/>
          </p:nvPr>
        </p:nvSpPr>
        <p:spPr>
          <a:xfrm>
            <a:off x="1470025" y="1612900"/>
            <a:ext cx="18448338" cy="585152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C0EE5-30A5-F779-518F-C80874A48439}"/>
              </a:ext>
            </a:extLst>
          </p:cNvPr>
          <p:cNvSpPr>
            <a:spLocks noGrp="1"/>
          </p:cNvSpPr>
          <p:nvPr>
            <p:ph type="body" idx="1"/>
          </p:nvPr>
        </p:nvSpPr>
        <p:spPr>
          <a:xfrm>
            <a:off x="1470025" y="8061325"/>
            <a:ext cx="18448338" cy="192119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D08C08-AE11-1D48-2277-CE4EBFF637D3}"/>
              </a:ext>
            </a:extLst>
          </p:cNvPr>
          <p:cNvSpPr>
            <a:spLocks noGrp="1"/>
          </p:cNvSpPr>
          <p:nvPr>
            <p:ph type="dt" sz="half" idx="2"/>
          </p:nvPr>
        </p:nvSpPr>
        <p:spPr>
          <a:xfrm>
            <a:off x="1470025" y="28065413"/>
            <a:ext cx="4813300" cy="1611312"/>
          </a:xfrm>
          <a:prstGeom prst="rect">
            <a:avLst/>
          </a:prstGeom>
        </p:spPr>
        <p:txBody>
          <a:bodyPr vert="horz" lIns="91440" tIns="45720" rIns="91440" bIns="45720" rtlCol="0" anchor="ctr"/>
          <a:lstStyle>
            <a:lvl1pPr algn="l">
              <a:defRPr sz="1200">
                <a:solidFill>
                  <a:schemeClr val="tx1">
                    <a:tint val="82000"/>
                  </a:schemeClr>
                </a:solidFill>
              </a:defRPr>
            </a:lvl1pPr>
          </a:lstStyle>
          <a:p>
            <a:fld id="{C97EC4C6-B233-4DED-BE25-D2749E462968}" type="datetimeFigureOut">
              <a:rPr lang="en-GB" smtClean="0"/>
              <a:t>16/12/2025</a:t>
            </a:fld>
            <a:endParaRPr lang="en-GB"/>
          </a:p>
        </p:txBody>
      </p:sp>
      <p:sp>
        <p:nvSpPr>
          <p:cNvPr id="5" name="Footer Placeholder 4">
            <a:extLst>
              <a:ext uri="{FF2B5EF4-FFF2-40B4-BE49-F238E27FC236}">
                <a16:creationId xmlns:a16="http://schemas.microsoft.com/office/drawing/2014/main" id="{12385167-AC3C-A81E-46AD-5E8CE214C695}"/>
              </a:ext>
            </a:extLst>
          </p:cNvPr>
          <p:cNvSpPr>
            <a:spLocks noGrp="1"/>
          </p:cNvSpPr>
          <p:nvPr>
            <p:ph type="ftr" sz="quarter" idx="3"/>
          </p:nvPr>
        </p:nvSpPr>
        <p:spPr>
          <a:xfrm>
            <a:off x="7085013" y="28065413"/>
            <a:ext cx="7218362" cy="1611312"/>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5B6F5A7-3936-7A34-931A-B1B97D8AD1F8}"/>
              </a:ext>
            </a:extLst>
          </p:cNvPr>
          <p:cNvSpPr>
            <a:spLocks noGrp="1"/>
          </p:cNvSpPr>
          <p:nvPr>
            <p:ph type="sldNum" sz="quarter" idx="4"/>
          </p:nvPr>
        </p:nvSpPr>
        <p:spPr>
          <a:xfrm>
            <a:off x="15105063" y="28065413"/>
            <a:ext cx="4813300" cy="1611312"/>
          </a:xfrm>
          <a:prstGeom prst="rect">
            <a:avLst/>
          </a:prstGeom>
        </p:spPr>
        <p:txBody>
          <a:bodyPr vert="horz" lIns="91440" tIns="45720" rIns="91440" bIns="45720" rtlCol="0" anchor="ctr"/>
          <a:lstStyle>
            <a:lvl1pPr algn="r">
              <a:defRPr sz="1200">
                <a:solidFill>
                  <a:schemeClr val="tx1">
                    <a:tint val="82000"/>
                  </a:schemeClr>
                </a:solidFill>
              </a:defRPr>
            </a:lvl1pPr>
          </a:lstStyle>
          <a:p>
            <a:fld id="{D97EC234-BE33-4EF6-BCA5-C0E094D9EA61}" type="slidenum">
              <a:rPr lang="en-GB" smtClean="0"/>
              <a:t>‹#›</a:t>
            </a:fld>
            <a:endParaRPr lang="en-GB"/>
          </a:p>
        </p:txBody>
      </p:sp>
    </p:spTree>
    <p:extLst>
      <p:ext uri="{BB962C8B-B14F-4D97-AF65-F5344CB8AC3E}">
        <p14:creationId xmlns:p14="http://schemas.microsoft.com/office/powerpoint/2010/main" val="330411965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err="1">
                <a:solidFill>
                  <a:srgbClr val="FFFFFF"/>
                </a:solidFill>
                <a:latin typeface="Arial" panose="020B0604020202020204" pitchFamily="34" charset="0"/>
                <a:cs typeface="Arial" panose="020B0604020202020204" pitchFamily="34" charset="0"/>
              </a:rPr>
              <a:t>Z.Velioglu</a:t>
            </a:r>
            <a:r>
              <a:rPr lang="en-GB" sz="2900">
                <a:solidFill>
                  <a:srgbClr val="FFFFFF"/>
                </a:solidFill>
                <a:latin typeface="Arial" panose="020B0604020202020204" pitchFamily="34" charset="0"/>
                <a:cs typeface="Arial" panose="020B0604020202020204" pitchFamily="34" charset="0"/>
              </a:rPr>
              <a:t>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F. Hwang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W. S. Harwin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9A231-4808-007F-1FA6-1B80BAC47094}"/>
              </a:ext>
            </a:extLst>
          </p:cNvPr>
          <p:cNvSpPr>
            <a:spLocks noGrp="1"/>
          </p:cNvSpPr>
          <p:nvPr>
            <p:ph type="title"/>
          </p:nvPr>
        </p:nvSpPr>
        <p:spPr>
          <a:xfrm>
            <a:off x="1470025" y="1612900"/>
            <a:ext cx="18448338" cy="585152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B6EF103-FD2B-759C-D294-7550EAB0A869}"/>
              </a:ext>
            </a:extLst>
          </p:cNvPr>
          <p:cNvSpPr>
            <a:spLocks noGrp="1"/>
          </p:cNvSpPr>
          <p:nvPr>
            <p:ph type="body" idx="1"/>
          </p:nvPr>
        </p:nvSpPr>
        <p:spPr>
          <a:xfrm>
            <a:off x="1470025" y="8061325"/>
            <a:ext cx="18448338" cy="192119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2F4C26-4AE5-96EA-8901-6188F7F4CC5F}"/>
              </a:ext>
            </a:extLst>
          </p:cNvPr>
          <p:cNvSpPr>
            <a:spLocks noGrp="1"/>
          </p:cNvSpPr>
          <p:nvPr>
            <p:ph type="dt" sz="half" idx="2"/>
          </p:nvPr>
        </p:nvSpPr>
        <p:spPr>
          <a:xfrm>
            <a:off x="1470025" y="28065413"/>
            <a:ext cx="4813300" cy="1611312"/>
          </a:xfrm>
          <a:prstGeom prst="rect">
            <a:avLst/>
          </a:prstGeom>
        </p:spPr>
        <p:txBody>
          <a:bodyPr vert="horz" lIns="91440" tIns="45720" rIns="91440" bIns="45720" rtlCol="0" anchor="ctr"/>
          <a:lstStyle>
            <a:lvl1pPr algn="l">
              <a:defRPr sz="1200">
                <a:solidFill>
                  <a:schemeClr val="tx1">
                    <a:tint val="82000"/>
                  </a:schemeClr>
                </a:solidFill>
              </a:defRPr>
            </a:lvl1pPr>
          </a:lstStyle>
          <a:p>
            <a:fld id="{A666320E-2E51-46CD-B000-0C5C59C25FAA}" type="datetimeFigureOut">
              <a:rPr lang="en-GB" smtClean="0"/>
              <a:t>16/12/2025</a:t>
            </a:fld>
            <a:endParaRPr lang="en-GB"/>
          </a:p>
        </p:txBody>
      </p:sp>
      <p:sp>
        <p:nvSpPr>
          <p:cNvPr id="5" name="Footer Placeholder 4">
            <a:extLst>
              <a:ext uri="{FF2B5EF4-FFF2-40B4-BE49-F238E27FC236}">
                <a16:creationId xmlns:a16="http://schemas.microsoft.com/office/drawing/2014/main" id="{797D2637-0ED5-20CE-7563-7CD033ACF286}"/>
              </a:ext>
            </a:extLst>
          </p:cNvPr>
          <p:cNvSpPr>
            <a:spLocks noGrp="1"/>
          </p:cNvSpPr>
          <p:nvPr>
            <p:ph type="ftr" sz="quarter" idx="3"/>
          </p:nvPr>
        </p:nvSpPr>
        <p:spPr>
          <a:xfrm>
            <a:off x="7085013" y="28065413"/>
            <a:ext cx="7218362" cy="1611312"/>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9BB1FAB-9B8B-5169-0C12-6D2A3FB4575D}"/>
              </a:ext>
            </a:extLst>
          </p:cNvPr>
          <p:cNvSpPr>
            <a:spLocks noGrp="1"/>
          </p:cNvSpPr>
          <p:nvPr>
            <p:ph type="sldNum" sz="quarter" idx="4"/>
          </p:nvPr>
        </p:nvSpPr>
        <p:spPr>
          <a:xfrm>
            <a:off x="15105063" y="28065413"/>
            <a:ext cx="4813300" cy="1611312"/>
          </a:xfrm>
          <a:prstGeom prst="rect">
            <a:avLst/>
          </a:prstGeom>
        </p:spPr>
        <p:txBody>
          <a:bodyPr vert="horz" lIns="91440" tIns="45720" rIns="91440" bIns="45720" rtlCol="0" anchor="ctr"/>
          <a:lstStyle>
            <a:lvl1pPr algn="r">
              <a:defRPr sz="1200">
                <a:solidFill>
                  <a:schemeClr val="tx1">
                    <a:tint val="82000"/>
                  </a:schemeClr>
                </a:solidFill>
              </a:defRPr>
            </a:lvl1pPr>
          </a:lstStyle>
          <a:p>
            <a:fld id="{8EEC39EF-12DD-4979-90D2-3F1F26504DFB}" type="slidenum">
              <a:rPr lang="en-GB" smtClean="0"/>
              <a:t>‹#›</a:t>
            </a:fld>
            <a:endParaRPr lang="en-GB"/>
          </a:p>
        </p:txBody>
      </p:sp>
    </p:spTree>
    <p:extLst>
      <p:ext uri="{BB962C8B-B14F-4D97-AF65-F5344CB8AC3E}">
        <p14:creationId xmlns:p14="http://schemas.microsoft.com/office/powerpoint/2010/main" val="198927061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24D5-71A3-2738-7A9E-A759FA8BC8C5}"/>
            </a:ext>
          </a:extLst>
        </p:cNvPr>
        <p:cNvGrpSpPr/>
        <p:nvPr/>
      </p:nvGrpSpPr>
      <p:grpSpPr>
        <a:xfrm>
          <a:off x="0" y="0"/>
          <a:ext cx="0" cy="0"/>
          <a:chOff x="0" y="0"/>
          <a:chExt cx="0" cy="0"/>
        </a:xfrm>
      </p:grpSpPr>
      <p:sp>
        <p:nvSpPr>
          <p:cNvPr id="2075" name="Rectangle: Rounded Corners 2074">
            <a:extLst>
              <a:ext uri="{FF2B5EF4-FFF2-40B4-BE49-F238E27FC236}">
                <a16:creationId xmlns:a16="http://schemas.microsoft.com/office/drawing/2014/main" id="{1E20368F-DBA7-8936-CF9A-AB0247D232AC}"/>
              </a:ext>
            </a:extLst>
          </p:cNvPr>
          <p:cNvSpPr/>
          <p:nvPr/>
        </p:nvSpPr>
        <p:spPr bwMode="auto">
          <a:xfrm>
            <a:off x="359999" y="13680014"/>
            <a:ext cx="10191187" cy="14696698"/>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12" name="Rectangle: Rounded Corners 11">
            <a:extLst>
              <a:ext uri="{FF2B5EF4-FFF2-40B4-BE49-F238E27FC236}">
                <a16:creationId xmlns:a16="http://schemas.microsoft.com/office/drawing/2014/main" id="{504AADB6-2F1A-0737-C6F0-F0FD64F1AD1C}"/>
              </a:ext>
            </a:extLst>
          </p:cNvPr>
          <p:cNvSpPr/>
          <p:nvPr/>
        </p:nvSpPr>
        <p:spPr bwMode="auto">
          <a:xfrm>
            <a:off x="610538" y="28856309"/>
            <a:ext cx="20516266" cy="1331548"/>
          </a:xfrm>
          <a:prstGeom prst="roundRect">
            <a:avLst/>
          </a:prstGeom>
          <a:solidFill>
            <a:schemeClr val="bg2"/>
          </a:solidFill>
          <a:ln w="38100" cap="flat" cmpd="sng" algn="ctr">
            <a:solidFill>
              <a:srgbClr val="106DB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cxnSp>
        <p:nvCxnSpPr>
          <p:cNvPr id="5" name="Straight Arrow Connector 4">
            <a:extLst>
              <a:ext uri="{FF2B5EF4-FFF2-40B4-BE49-F238E27FC236}">
                <a16:creationId xmlns:a16="http://schemas.microsoft.com/office/drawing/2014/main" id="{1A07E93A-1285-4DD3-5D6B-07602098D5B6}"/>
              </a:ext>
            </a:extLst>
          </p:cNvPr>
          <p:cNvCxnSpPr>
            <a:cxnSpLocks/>
          </p:cNvCxnSpPr>
          <p:nvPr/>
        </p:nvCxnSpPr>
        <p:spPr bwMode="auto">
          <a:xfrm>
            <a:off x="10379868" y="14309850"/>
            <a:ext cx="924486" cy="948570"/>
          </a:xfrm>
          <a:prstGeom prst="straightConnector1">
            <a:avLst/>
          </a:prstGeom>
          <a:solidFill>
            <a:schemeClr val="tx2"/>
          </a:solidFill>
          <a:ln w="9525" cap="flat" cmpd="sng" algn="ctr">
            <a:noFill/>
            <a:prstDash val="solid"/>
            <a:round/>
            <a:headEnd type="none" w="med" len="med"/>
            <a:tailEnd type="none" w="med" len="med"/>
          </a:ln>
          <a:effectLst/>
        </p:spPr>
      </p:cxnSp>
      <p:sp>
        <p:nvSpPr>
          <p:cNvPr id="42" name="Rectangle: Rounded Corners 41">
            <a:extLst>
              <a:ext uri="{FF2B5EF4-FFF2-40B4-BE49-F238E27FC236}">
                <a16:creationId xmlns:a16="http://schemas.microsoft.com/office/drawing/2014/main" id="{103C6546-5511-437B-6D77-31B9EDCA6E07}"/>
              </a:ext>
            </a:extLst>
          </p:cNvPr>
          <p:cNvSpPr/>
          <p:nvPr/>
        </p:nvSpPr>
        <p:spPr bwMode="auto">
          <a:xfrm>
            <a:off x="1538265" y="13380986"/>
            <a:ext cx="7998096" cy="673916"/>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2952750"/>
            <a:r>
              <a:rPr lang="en-GB" sz="3200" b="1" kern="0" dirty="0">
                <a:solidFill>
                  <a:schemeClr val="bg1"/>
                </a:solidFill>
                <a:latin typeface="Arial"/>
                <a:cs typeface="Arial"/>
              </a:rPr>
              <a:t>Hypersphere State Switching Method</a:t>
            </a:r>
            <a:endParaRPr kumimoji="0" lang="en-GB" sz="3200" b="0" i="0" u="none" strike="noStrike" cap="none" normalizeH="0" baseline="0" dirty="0">
              <a:ln>
                <a:noFill/>
              </a:ln>
              <a:solidFill>
                <a:schemeClr val="bg1"/>
              </a:solidFill>
              <a:effectLst/>
              <a:latin typeface="Rdg Vesta" pitchFamily="2" charset="0"/>
            </a:endParaRPr>
          </a:p>
        </p:txBody>
      </p:sp>
      <p:sp>
        <p:nvSpPr>
          <p:cNvPr id="59" name="Rectangle: Rounded Corners 58">
            <a:extLst>
              <a:ext uri="{FF2B5EF4-FFF2-40B4-BE49-F238E27FC236}">
                <a16:creationId xmlns:a16="http://schemas.microsoft.com/office/drawing/2014/main" id="{B60FE179-D34C-9A58-A198-263BE6258198}"/>
              </a:ext>
            </a:extLst>
          </p:cNvPr>
          <p:cNvSpPr/>
          <p:nvPr/>
        </p:nvSpPr>
        <p:spPr bwMode="auto">
          <a:xfrm>
            <a:off x="1456544" y="28508867"/>
            <a:ext cx="2764975" cy="618683"/>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defTabSz="2952750"/>
            <a:r>
              <a:rPr lang="en-GB" sz="3500" b="1" kern="0" dirty="0">
                <a:solidFill>
                  <a:schemeClr val="bg1"/>
                </a:solidFill>
                <a:latin typeface="Arial"/>
                <a:cs typeface="Arial"/>
              </a:rPr>
              <a:t> </a:t>
            </a:r>
            <a:r>
              <a:rPr lang="en-GB" sz="3200" b="1" kern="0" dirty="0">
                <a:solidFill>
                  <a:schemeClr val="bg1"/>
                </a:solidFill>
                <a:latin typeface="Arial"/>
                <a:cs typeface="Arial"/>
              </a:rPr>
              <a:t>Conclusion</a:t>
            </a:r>
            <a:endParaRPr lang="en-GB" sz="3200" b="1" i="0" u="none" strike="noStrike" kern="0" cap="none" normalizeH="0" baseline="0" dirty="0">
              <a:ln>
                <a:noFill/>
              </a:ln>
              <a:solidFill>
                <a:schemeClr val="bg1"/>
              </a:solidFill>
              <a:effectLst/>
              <a:latin typeface="Arial"/>
              <a:cs typeface="Arial"/>
            </a:endParaRPr>
          </a:p>
        </p:txBody>
      </p:sp>
      <p:sp>
        <p:nvSpPr>
          <p:cNvPr id="45" name="TextBox 44">
            <a:extLst>
              <a:ext uri="{FF2B5EF4-FFF2-40B4-BE49-F238E27FC236}">
                <a16:creationId xmlns:a16="http://schemas.microsoft.com/office/drawing/2014/main" id="{6C519DA5-2590-3B93-4FA9-9C1CD043585F}"/>
              </a:ext>
            </a:extLst>
          </p:cNvPr>
          <p:cNvSpPr txBox="1"/>
          <p:nvPr/>
        </p:nvSpPr>
        <p:spPr bwMode="auto">
          <a:xfrm>
            <a:off x="14400" y="3837520"/>
            <a:ext cx="21366000" cy="1493176"/>
          </a:xfrm>
          <a:prstGeom prst="rect">
            <a:avLst/>
          </a:prstGeom>
          <a:solidFill>
            <a:schemeClr val="bg1"/>
          </a:solid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endParaRPr lang="en-GB" sz="4100" b="1" kern="0" dirty="0">
              <a:solidFill>
                <a:schemeClr val="bg1"/>
              </a:solidFill>
              <a:latin typeface="Arial" panose="020B0604020202020204" pitchFamily="34" charset="0"/>
              <a:cs typeface="Arial" panose="020B0604020202020204" pitchFamily="34" charset="0"/>
            </a:endParaRPr>
          </a:p>
        </p:txBody>
      </p:sp>
      <p:sp>
        <p:nvSpPr>
          <p:cNvPr id="61" name="Rectangle: Rounded Corners 60">
            <a:extLst>
              <a:ext uri="{FF2B5EF4-FFF2-40B4-BE49-F238E27FC236}">
                <a16:creationId xmlns:a16="http://schemas.microsoft.com/office/drawing/2014/main" id="{16257A3F-7950-7045-5951-16E369B9E6B9}"/>
              </a:ext>
            </a:extLst>
          </p:cNvPr>
          <p:cNvSpPr/>
          <p:nvPr/>
        </p:nvSpPr>
        <p:spPr bwMode="auto">
          <a:xfrm>
            <a:off x="10800000" y="13596725"/>
            <a:ext cx="10080000" cy="14729343"/>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2072" name="Rectangle: Rounded Corners 2071">
            <a:extLst>
              <a:ext uri="{FF2B5EF4-FFF2-40B4-BE49-F238E27FC236}">
                <a16:creationId xmlns:a16="http://schemas.microsoft.com/office/drawing/2014/main" id="{94530128-6ECF-7BA3-E246-EBDA6C132B07}"/>
              </a:ext>
            </a:extLst>
          </p:cNvPr>
          <p:cNvSpPr/>
          <p:nvPr/>
        </p:nvSpPr>
        <p:spPr bwMode="auto">
          <a:xfrm>
            <a:off x="11971950" y="13378828"/>
            <a:ext cx="7839290" cy="621378"/>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2952750"/>
            <a:r>
              <a:rPr lang="en-GB" sz="3200" b="1" kern="0" dirty="0">
                <a:solidFill>
                  <a:schemeClr val="bg1"/>
                </a:solidFill>
                <a:latin typeface="Arial"/>
                <a:cs typeface="Arial"/>
              </a:rPr>
              <a:t>Maximum Velocity Switching Method</a:t>
            </a:r>
            <a:endParaRPr kumimoji="0" lang="en-GB" sz="3200" b="0" i="0" u="none" strike="noStrike" cap="none" normalizeH="0" baseline="0" dirty="0">
              <a:ln>
                <a:noFill/>
              </a:ln>
              <a:solidFill>
                <a:schemeClr val="bg1"/>
              </a:solidFill>
              <a:effectLst/>
              <a:latin typeface="Rdg Vesta" pitchFamily="2" charset="0"/>
            </a:endParaRPr>
          </a:p>
        </p:txBody>
      </p:sp>
      <p:sp>
        <p:nvSpPr>
          <p:cNvPr id="2054" name="TextBox 2053">
            <a:extLst>
              <a:ext uri="{FF2B5EF4-FFF2-40B4-BE49-F238E27FC236}">
                <a16:creationId xmlns:a16="http://schemas.microsoft.com/office/drawing/2014/main" id="{24A121B7-8431-D140-CE3F-E0C621227876}"/>
              </a:ext>
            </a:extLst>
          </p:cNvPr>
          <p:cNvSpPr txBox="1"/>
          <p:nvPr/>
        </p:nvSpPr>
        <p:spPr bwMode="auto">
          <a:xfrm>
            <a:off x="226192" y="3283461"/>
            <a:ext cx="13024129" cy="481222"/>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GB" sz="3200" b="1" kern="0" dirty="0">
                <a:solidFill>
                  <a:schemeClr val="bg1"/>
                </a:solidFill>
                <a:latin typeface="Arial" panose="020B0604020202020204" pitchFamily="34" charset="0"/>
                <a:cs typeface="Arial" panose="020B0604020202020204" pitchFamily="34" charset="0"/>
              </a:rPr>
              <a:t>Koray Can YIGIT   |   Ozan TOKATLI   |   William HARWIN</a:t>
            </a:r>
          </a:p>
        </p:txBody>
      </p:sp>
      <p:sp>
        <p:nvSpPr>
          <p:cNvPr id="2080" name="TextBox 2079">
            <a:extLst>
              <a:ext uri="{FF2B5EF4-FFF2-40B4-BE49-F238E27FC236}">
                <a16:creationId xmlns:a16="http://schemas.microsoft.com/office/drawing/2014/main" id="{CE58E0F3-00B0-4C07-DF4A-BE4045932C24}"/>
              </a:ext>
            </a:extLst>
          </p:cNvPr>
          <p:cNvSpPr txBox="1"/>
          <p:nvPr/>
        </p:nvSpPr>
        <p:spPr bwMode="auto">
          <a:xfrm>
            <a:off x="795013" y="29247110"/>
            <a:ext cx="20516265" cy="748666"/>
          </a:xfrm>
          <a:prstGeom prst="rect">
            <a:avLst/>
          </a:prstGeom>
          <a:noFill/>
          <a:ln w="9525">
            <a:noFill/>
            <a:miter lim="800000"/>
            <a:headEnd/>
            <a:tailEnd/>
          </a:ln>
          <a:effectLst/>
        </p:spPr>
        <p:txBody>
          <a:bodyPr wrap="square" lIns="0" tIns="0" rIns="0" bIns="0" rtlCol="0">
            <a:spAutoFit/>
          </a:bodyPr>
          <a:lstStyle/>
          <a:p>
            <a:pPr marL="455613" indent="-455613" defTabSz="2952750" eaLnBrk="0" hangingPunct="0">
              <a:lnSpc>
                <a:spcPct val="105000"/>
              </a:lnSpc>
              <a:spcBef>
                <a:spcPts val="4400"/>
              </a:spcBef>
              <a:spcAft>
                <a:spcPts val="0"/>
              </a:spcAft>
              <a:buClr>
                <a:schemeClr val="tx2"/>
              </a:buClr>
            </a:pPr>
            <a:r>
              <a:rPr lang="en-GB" sz="2400" kern="0" dirty="0">
                <a:solidFill>
                  <a:schemeClr val="tx2"/>
                </a:solidFill>
                <a:latin typeface="Arial" panose="020B0604020202020204" pitchFamily="34" charset="0"/>
                <a:cs typeface="Arial" panose="020B0604020202020204" pitchFamily="34" charset="0"/>
              </a:rPr>
              <a:t>     Experimental results show a significant improvement in trajectory adaptability,  motion smoothness, while exploiting intrinsic dynamic properties of the robot and maintaining stable performance in unstructured environments.</a:t>
            </a:r>
          </a:p>
        </p:txBody>
      </p:sp>
      <p:sp>
        <p:nvSpPr>
          <p:cNvPr id="2089" name="Rectangle 2088">
            <a:extLst>
              <a:ext uri="{FF2B5EF4-FFF2-40B4-BE49-F238E27FC236}">
                <a16:creationId xmlns:a16="http://schemas.microsoft.com/office/drawing/2014/main" id="{F88B21A5-261F-C2DA-7003-E16E1FE80A5A}"/>
              </a:ext>
            </a:extLst>
          </p:cNvPr>
          <p:cNvSpPr/>
          <p:nvPr/>
        </p:nvSpPr>
        <p:spPr bwMode="auto">
          <a:xfrm>
            <a:off x="610538" y="1356852"/>
            <a:ext cx="7501075" cy="884903"/>
          </a:xfrm>
          <a:prstGeom prst="rect">
            <a:avLst/>
          </a:prstGeom>
          <a:solidFill>
            <a:schemeClr val="tx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a:ln>
                <a:noFill/>
              </a:ln>
              <a:solidFill>
                <a:schemeClr val="tx1"/>
              </a:solidFill>
              <a:effectLst/>
              <a:latin typeface="Rdg Vesta" pitchFamily="2" charset="0"/>
            </a:endParaRPr>
          </a:p>
        </p:txBody>
      </p:sp>
      <p:sp>
        <p:nvSpPr>
          <p:cNvPr id="2053" name="TextBox 2052">
            <a:extLst>
              <a:ext uri="{FF2B5EF4-FFF2-40B4-BE49-F238E27FC236}">
                <a16:creationId xmlns:a16="http://schemas.microsoft.com/office/drawing/2014/main" id="{93FC513B-DC34-8FED-6316-E0CE4A7A620A}"/>
              </a:ext>
            </a:extLst>
          </p:cNvPr>
          <p:cNvSpPr txBox="1"/>
          <p:nvPr/>
        </p:nvSpPr>
        <p:spPr bwMode="auto">
          <a:xfrm>
            <a:off x="4623346" y="656467"/>
            <a:ext cx="11671026" cy="1600438"/>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spcBef>
                <a:spcPts val="4400"/>
              </a:spcBef>
              <a:spcAft>
                <a:spcPts val="0"/>
              </a:spcAft>
              <a:buClr>
                <a:schemeClr val="tx2"/>
              </a:buClr>
            </a:pPr>
            <a:r>
              <a:rPr lang="en-GB" sz="5200" b="1" kern="0" dirty="0">
                <a:solidFill>
                  <a:schemeClr val="bg1"/>
                </a:solidFill>
                <a:latin typeface="Arial" panose="020B0604020202020204" pitchFamily="34" charset="0"/>
                <a:cs typeface="Arial" panose="020B0604020202020204" pitchFamily="34" charset="0"/>
              </a:rPr>
              <a:t>Dynamically Aware Robot Trajectory Generation and Optimisation</a:t>
            </a:r>
          </a:p>
        </p:txBody>
      </p:sp>
      <p:sp>
        <p:nvSpPr>
          <p:cNvPr id="7" name="TextBox 6">
            <a:extLst>
              <a:ext uri="{FF2B5EF4-FFF2-40B4-BE49-F238E27FC236}">
                <a16:creationId xmlns:a16="http://schemas.microsoft.com/office/drawing/2014/main" id="{ECFCD4B0-2F50-6881-B1BF-D80AA94391A7}"/>
              </a:ext>
            </a:extLst>
          </p:cNvPr>
          <p:cNvSpPr txBox="1"/>
          <p:nvPr/>
        </p:nvSpPr>
        <p:spPr bwMode="auto">
          <a:xfrm>
            <a:off x="1077711" y="20058370"/>
            <a:ext cx="8286095" cy="246221"/>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US" sz="1600" b="1" kern="0" dirty="0">
                <a:solidFill>
                  <a:schemeClr val="tx2"/>
                </a:solidFill>
                <a:latin typeface="Arial" panose="020B0604020202020204" pitchFamily="34" charset="0"/>
                <a:cs typeface="Arial" panose="020B0604020202020204" pitchFamily="34" charset="0"/>
              </a:rPr>
              <a:t>Minimum Distance Table</a:t>
            </a:r>
            <a:endParaRPr lang="en-GB" sz="1600" b="1" kern="0" dirty="0">
              <a:solidFill>
                <a:schemeClr val="tx2"/>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E2C40124-BB43-08E9-D4BF-19ECEC2C3041}"/>
              </a:ext>
            </a:extLst>
          </p:cNvPr>
          <p:cNvSpPr txBox="1"/>
          <p:nvPr/>
        </p:nvSpPr>
        <p:spPr bwMode="auto">
          <a:xfrm>
            <a:off x="9483904" y="12966247"/>
            <a:ext cx="10730112" cy="210507"/>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2:</a:t>
            </a:r>
            <a:r>
              <a:rPr lang="en-US" sz="1400" kern="0" dirty="0">
                <a:solidFill>
                  <a:schemeClr val="accent1"/>
                </a:solidFill>
                <a:latin typeface="Arial" panose="020B0604020202020204" pitchFamily="34" charset="0"/>
                <a:cs typeface="Arial" panose="020B0604020202020204" pitchFamily="34" charset="0"/>
              </a:rPr>
              <a:t> </a:t>
            </a:r>
            <a:r>
              <a:rPr lang="en-US" sz="1400" i="1" kern="0" dirty="0">
                <a:solidFill>
                  <a:schemeClr val="accent1"/>
                </a:solidFill>
                <a:latin typeface="Arial" panose="020B0604020202020204" pitchFamily="34" charset="0"/>
                <a:cs typeface="Arial" panose="020B0604020202020204" pitchFamily="34" charset="0"/>
              </a:rPr>
              <a:t>Block diagram of the system of hypersphere state switching and maximum velocity switching</a:t>
            </a:r>
            <a:endParaRPr lang="en-GB" sz="1400" i="1" kern="0" dirty="0">
              <a:solidFill>
                <a:schemeClr val="accent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5E5FD1CF-121E-C768-6474-E4F704FDE3EC}"/>
              </a:ext>
            </a:extLst>
          </p:cNvPr>
          <p:cNvSpPr txBox="1"/>
          <p:nvPr/>
        </p:nvSpPr>
        <p:spPr bwMode="auto">
          <a:xfrm>
            <a:off x="1174642" y="27658382"/>
            <a:ext cx="8286095" cy="436723"/>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4:</a:t>
            </a:r>
            <a:r>
              <a:rPr lang="en-US" sz="1400" i="1" kern="0" dirty="0">
                <a:solidFill>
                  <a:schemeClr val="accent1"/>
                </a:solidFill>
                <a:latin typeface="Arial" panose="020B0604020202020204" pitchFamily="34" charset="0"/>
                <a:cs typeface="Arial" panose="020B0604020202020204" pitchFamily="34" charset="0"/>
              </a:rPr>
              <a:t> Shows the joint velocities following optimization for the reference, simulation and physical robot (x1).  The observed variations result from changes in the section switching and prefilter parameters.</a:t>
            </a:r>
            <a:endParaRPr lang="en-GB" sz="1400" i="1" kern="0" dirty="0">
              <a:solidFill>
                <a:schemeClr val="accent1"/>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E3D60BA-647B-93CE-AD51-9D2A35579BBA}"/>
              </a:ext>
            </a:extLst>
          </p:cNvPr>
          <p:cNvSpPr txBox="1"/>
          <p:nvPr/>
        </p:nvSpPr>
        <p:spPr bwMode="auto">
          <a:xfrm>
            <a:off x="11135060" y="19513415"/>
            <a:ext cx="9263190" cy="436723"/>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5:</a:t>
            </a:r>
            <a:r>
              <a:rPr lang="en-US" sz="1400" i="1" kern="0" dirty="0">
                <a:solidFill>
                  <a:schemeClr val="accent1"/>
                </a:solidFill>
                <a:latin typeface="Arial" panose="020B0604020202020204" pitchFamily="34" charset="0"/>
                <a:cs typeface="Arial" panose="020B0604020202020204" pitchFamily="34" charset="0"/>
              </a:rPr>
              <a:t> Reference, simulation and physical trajectories( at normal and 4x speed), including the home position, target position, control points and the associated sphere.</a:t>
            </a:r>
            <a:endParaRPr lang="en-GB" sz="1400" kern="0" dirty="0">
              <a:solidFill>
                <a:schemeClr val="accent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C522614-49BB-747B-4B0B-90E75247DAA7}"/>
              </a:ext>
            </a:extLst>
          </p:cNvPr>
          <p:cNvSpPr txBox="1"/>
          <p:nvPr/>
        </p:nvSpPr>
        <p:spPr bwMode="auto">
          <a:xfrm>
            <a:off x="11772185" y="27645435"/>
            <a:ext cx="8867072" cy="436723"/>
          </a:xfrm>
          <a:prstGeom prst="rect">
            <a:avLst/>
          </a:prstGeom>
          <a:noFill/>
          <a:ln w="9525">
            <a:noFill/>
            <a:miter lim="800000"/>
            <a:headEnd/>
            <a:tailEnd/>
          </a:ln>
          <a:effectLst/>
        </p:spPr>
        <p:txBody>
          <a:bodyPr wrap="square" lIns="0" tIns="0" rIns="0" bIns="0" rtlCol="0">
            <a:spAutoFit/>
          </a:bodyPr>
          <a:lstStyle/>
          <a:p>
            <a:pPr marL="455613" indent="-455613"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6: </a:t>
            </a:r>
            <a:r>
              <a:rPr lang="en-US" sz="1400" i="1" kern="0" dirty="0">
                <a:solidFill>
                  <a:schemeClr val="accent1"/>
                </a:solidFill>
                <a:latin typeface="Arial" panose="020B0604020202020204" pitchFamily="34" charset="0"/>
                <a:cs typeface="Arial" panose="020B0604020202020204" pitchFamily="34" charset="0"/>
              </a:rPr>
              <a:t>Shows the joint velocities following optimization for the reference, simulation and physical robot (x1).  The observed variations result from changes in the section switching and prefilter parameters.</a:t>
            </a:r>
            <a:endParaRPr lang="en-GB" sz="1400" i="1" kern="0" dirty="0">
              <a:solidFill>
                <a:schemeClr val="accent1"/>
              </a:solidFill>
              <a:latin typeface="Arial" panose="020B0604020202020204" pitchFamily="34" charset="0"/>
              <a:cs typeface="Arial" panose="020B0604020202020204" pitchFamily="34" charset="0"/>
            </a:endParaRPr>
          </a:p>
        </p:txBody>
      </p:sp>
      <p:sp>
        <p:nvSpPr>
          <p:cNvPr id="2071" name="Rectangle: Rounded Corners 2070">
            <a:extLst>
              <a:ext uri="{FF2B5EF4-FFF2-40B4-BE49-F238E27FC236}">
                <a16:creationId xmlns:a16="http://schemas.microsoft.com/office/drawing/2014/main" id="{25B2263C-15BF-D7F5-4072-BC439515AA37}"/>
              </a:ext>
            </a:extLst>
          </p:cNvPr>
          <p:cNvSpPr/>
          <p:nvPr/>
        </p:nvSpPr>
        <p:spPr bwMode="auto">
          <a:xfrm>
            <a:off x="469915" y="4869855"/>
            <a:ext cx="9560792" cy="3378843"/>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a:ln>
                <a:noFill/>
              </a:ln>
              <a:solidFill>
                <a:schemeClr val="tx1"/>
              </a:solidFill>
              <a:effectLst/>
              <a:latin typeface="Rdg Vesta" pitchFamily="2" charset="0"/>
            </a:endParaRPr>
          </a:p>
        </p:txBody>
      </p:sp>
      <p:sp>
        <p:nvSpPr>
          <p:cNvPr id="8" name="Rectangle: Rounded Corners 7">
            <a:extLst>
              <a:ext uri="{FF2B5EF4-FFF2-40B4-BE49-F238E27FC236}">
                <a16:creationId xmlns:a16="http://schemas.microsoft.com/office/drawing/2014/main" id="{852D986B-25EA-5CC7-082D-4BA66D6B293D}"/>
              </a:ext>
            </a:extLst>
          </p:cNvPr>
          <p:cNvSpPr/>
          <p:nvPr/>
        </p:nvSpPr>
        <p:spPr bwMode="auto">
          <a:xfrm>
            <a:off x="360000" y="4686625"/>
            <a:ext cx="9598478" cy="3378843"/>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14" name="Rectangle 3">
            <a:extLst>
              <a:ext uri="{FF2B5EF4-FFF2-40B4-BE49-F238E27FC236}">
                <a16:creationId xmlns:a16="http://schemas.microsoft.com/office/drawing/2014/main" id="{16280F50-CCF4-8D92-96A6-C1EE5AC24CFE}"/>
              </a:ext>
            </a:extLst>
          </p:cNvPr>
          <p:cNvSpPr>
            <a:spLocks noChangeArrowheads="1"/>
          </p:cNvSpPr>
          <p:nvPr/>
        </p:nvSpPr>
        <p:spPr bwMode="auto">
          <a:xfrm>
            <a:off x="460137" y="4623501"/>
            <a:ext cx="922996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Trajectory generation is critical to robotic motion planning, yet conventional kinematic methods often ignore robot dynamics, actuator limits, and controller effects, leading to trajectories that are infeasible in practice.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work proposes a </a:t>
            </a:r>
            <a:r>
              <a:rPr kumimoji="0" lang="en-US" altLang="en-US" sz="1600" b="1" i="0" u="none" strike="noStrike" cap="none" normalizeH="0" baseline="0" dirty="0">
                <a:ln>
                  <a:noFill/>
                </a:ln>
                <a:solidFill>
                  <a:schemeClr val="tx1"/>
                </a:solidFill>
                <a:effectLst/>
                <a:latin typeface="Arial" panose="020B0604020202020204" pitchFamily="34" charset="0"/>
              </a:rPr>
              <a:t>dynamics-aware relaxed trajectory</a:t>
            </a:r>
            <a:r>
              <a:rPr kumimoji="0" lang="en-US" altLang="en-US" sz="1600" b="0" i="0" u="none" strike="noStrike" cap="none" normalizeH="0" baseline="0" dirty="0">
                <a:ln>
                  <a:noFill/>
                </a:ln>
                <a:solidFill>
                  <a:schemeClr val="tx1"/>
                </a:solidFill>
                <a:effectLst/>
                <a:latin typeface="Arial" panose="020B0604020202020204" pitchFamily="34" charset="0"/>
              </a:rPr>
              <a:t> optimization framework that explicitly incorporates robot dynamics, actuator constraints, prefilter, and PD control into trajectory generation. The method simultaneously optimizes and deforms trajectories to ensure dynamic feasibility while enabling controlled trajectory ‘speed-up’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Method uses control points to shape the trajectory and target points to compute the robots adherence to that trajectory.</a:t>
            </a:r>
          </a:p>
        </p:txBody>
      </p:sp>
      <p:sp>
        <p:nvSpPr>
          <p:cNvPr id="11" name="Rectangle: Rounded Corners 10">
            <a:extLst>
              <a:ext uri="{FF2B5EF4-FFF2-40B4-BE49-F238E27FC236}">
                <a16:creationId xmlns:a16="http://schemas.microsoft.com/office/drawing/2014/main" id="{B9B3C23A-9D39-DEB5-CD2D-6045FDB68768}"/>
              </a:ext>
            </a:extLst>
          </p:cNvPr>
          <p:cNvSpPr/>
          <p:nvPr/>
        </p:nvSpPr>
        <p:spPr bwMode="auto">
          <a:xfrm>
            <a:off x="3455236" y="3893635"/>
            <a:ext cx="3408006" cy="713870"/>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2952750" rtl="0" eaLnBrk="1" fontAlgn="base" latinLnBrk="0" hangingPunct="1">
              <a:lnSpc>
                <a:spcPct val="100000"/>
              </a:lnSpc>
              <a:spcBef>
                <a:spcPct val="0"/>
              </a:spcBef>
              <a:spcAft>
                <a:spcPct val="0"/>
              </a:spcAft>
              <a:buClrTx/>
              <a:buSzTx/>
              <a:buFontTx/>
              <a:buNone/>
              <a:tabLst/>
            </a:pPr>
            <a:r>
              <a:rPr lang="en-GB" sz="3200" b="1" kern="0" dirty="0">
                <a:solidFill>
                  <a:srgbClr val="FF0000"/>
                </a:solidFill>
                <a:latin typeface="Arial"/>
                <a:cs typeface="Arial"/>
              </a:rPr>
              <a:t>  </a:t>
            </a:r>
            <a:r>
              <a:rPr lang="en-GB" sz="3200" b="1" kern="0" dirty="0">
                <a:solidFill>
                  <a:schemeClr val="bg1"/>
                </a:solidFill>
                <a:latin typeface="Arial"/>
                <a:cs typeface="Arial"/>
              </a:rPr>
              <a:t>Introduction</a:t>
            </a:r>
            <a:endParaRPr kumimoji="0" lang="en-GB" sz="3200" b="0" i="0" u="none" strike="noStrike" cap="none" normalizeH="0" baseline="0" dirty="0">
              <a:ln>
                <a:noFill/>
              </a:ln>
              <a:solidFill>
                <a:schemeClr val="bg1"/>
              </a:solidFill>
              <a:effectLst/>
              <a:latin typeface="Arial"/>
              <a:cs typeface="Arial"/>
            </a:endParaRPr>
          </a:p>
        </p:txBody>
      </p:sp>
      <p:sp>
        <p:nvSpPr>
          <p:cNvPr id="2073" name="Rectangle: Rounded Corners 2072">
            <a:extLst>
              <a:ext uri="{FF2B5EF4-FFF2-40B4-BE49-F238E27FC236}">
                <a16:creationId xmlns:a16="http://schemas.microsoft.com/office/drawing/2014/main" id="{516F6D98-168B-8D45-FAF1-031061D99010}"/>
              </a:ext>
            </a:extLst>
          </p:cNvPr>
          <p:cNvSpPr/>
          <p:nvPr/>
        </p:nvSpPr>
        <p:spPr bwMode="auto">
          <a:xfrm>
            <a:off x="10799999" y="4811466"/>
            <a:ext cx="10080000" cy="3437232"/>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2069" name="Rectangle: Rounded Corners 2068">
            <a:extLst>
              <a:ext uri="{FF2B5EF4-FFF2-40B4-BE49-F238E27FC236}">
                <a16:creationId xmlns:a16="http://schemas.microsoft.com/office/drawing/2014/main" id="{3FA35535-70CF-A41F-2B9B-FE75FAD3CCE8}"/>
              </a:ext>
            </a:extLst>
          </p:cNvPr>
          <p:cNvSpPr/>
          <p:nvPr/>
        </p:nvSpPr>
        <p:spPr bwMode="auto">
          <a:xfrm>
            <a:off x="10588389" y="4604632"/>
            <a:ext cx="10080000" cy="3437232"/>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defTabSz="2952750"/>
            <a:r>
              <a:rPr lang="en-US" dirty="0"/>
              <a:t>The proposed </a:t>
            </a:r>
            <a:r>
              <a:rPr lang="en-US" b="1" dirty="0"/>
              <a:t>relaxed trajectory</a:t>
            </a:r>
            <a:r>
              <a:rPr lang="en-US" dirty="0"/>
              <a:t> method embeds the robot’s full closed-loop dynamics directly into the trajectory generation process.</a:t>
            </a:r>
            <a:endParaRPr kumimoji="0" lang="en-GB" sz="1300" b="0" i="0" u="none" strike="noStrike" cap="none" normalizeH="0" baseline="0" dirty="0">
              <a:ln>
                <a:noFill/>
              </a:ln>
              <a:solidFill>
                <a:schemeClr val="tx1"/>
              </a:solidFill>
              <a:effectLst/>
              <a:latin typeface="Rdg Vesta" pitchFamily="2" charset="0"/>
            </a:endParaRPr>
          </a:p>
        </p:txBody>
      </p:sp>
      <p:sp>
        <p:nvSpPr>
          <p:cNvPr id="15" name="Rectangle: Rounded Corners 14">
            <a:extLst>
              <a:ext uri="{FF2B5EF4-FFF2-40B4-BE49-F238E27FC236}">
                <a16:creationId xmlns:a16="http://schemas.microsoft.com/office/drawing/2014/main" id="{17411C70-E478-4D4C-BB3B-F38F5FC330C5}"/>
              </a:ext>
            </a:extLst>
          </p:cNvPr>
          <p:cNvSpPr/>
          <p:nvPr/>
        </p:nvSpPr>
        <p:spPr bwMode="auto">
          <a:xfrm>
            <a:off x="13122072" y="3909920"/>
            <a:ext cx="5586319" cy="713870"/>
          </a:xfrm>
          <a:prstGeom prst="roundRect">
            <a:avLst/>
          </a:prstGeom>
          <a:solidFill>
            <a:schemeClr val="accent1">
              <a:lumMod val="50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2952750" rtl="0" eaLnBrk="1" fontAlgn="base" latinLnBrk="0" hangingPunct="1">
              <a:lnSpc>
                <a:spcPct val="100000"/>
              </a:lnSpc>
              <a:spcBef>
                <a:spcPct val="0"/>
              </a:spcBef>
              <a:spcAft>
                <a:spcPct val="0"/>
              </a:spcAft>
              <a:buClrTx/>
              <a:buSzTx/>
              <a:buFontTx/>
              <a:buNone/>
              <a:tabLst/>
            </a:pPr>
            <a:r>
              <a:rPr lang="en-GB" sz="3200" b="1" kern="0" dirty="0">
                <a:solidFill>
                  <a:schemeClr val="bg1"/>
                </a:solidFill>
                <a:latin typeface="Arial" panose="020B0604020202020204" pitchFamily="34" charset="0"/>
                <a:cs typeface="Arial" panose="020B0604020202020204" pitchFamily="34" charset="0"/>
              </a:rPr>
              <a:t>Methods and Advantages</a:t>
            </a:r>
            <a:endParaRPr kumimoji="0" lang="en-GB" sz="3200" b="0" i="0" u="none" strike="noStrike" cap="none" normalizeH="0" baseline="0" dirty="0">
              <a:ln>
                <a:noFill/>
              </a:ln>
              <a:solidFill>
                <a:schemeClr val="bg1"/>
              </a:solidFill>
              <a:effectLst/>
              <a:latin typeface="Rdg Vesta" pitchFamily="2" charset="0"/>
            </a:endParaRPr>
          </a:p>
        </p:txBody>
      </p:sp>
      <p:sp>
        <p:nvSpPr>
          <p:cNvPr id="19" name="Rectangle 3">
            <a:extLst>
              <a:ext uri="{FF2B5EF4-FFF2-40B4-BE49-F238E27FC236}">
                <a16:creationId xmlns:a16="http://schemas.microsoft.com/office/drawing/2014/main" id="{D21339E6-82EE-9332-6939-1968A1C26E35}"/>
              </a:ext>
            </a:extLst>
          </p:cNvPr>
          <p:cNvSpPr>
            <a:spLocks noChangeArrowheads="1"/>
          </p:cNvSpPr>
          <p:nvPr/>
        </p:nvSpPr>
        <p:spPr bwMode="auto">
          <a:xfrm>
            <a:off x="10940329" y="4869722"/>
            <a:ext cx="9498341"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hangingPunct="0"/>
            <a:r>
              <a:rPr lang="en-US" sz="1600" dirty="0">
                <a:latin typeface="+mj-lt"/>
              </a:rPr>
              <a:t>The proposed </a:t>
            </a:r>
            <a:r>
              <a:rPr lang="en-US" sz="1600" b="1" dirty="0">
                <a:latin typeface="+mj-lt"/>
              </a:rPr>
              <a:t>relaxed trajectory</a:t>
            </a:r>
            <a:r>
              <a:rPr lang="en-US" sz="1600" dirty="0">
                <a:latin typeface="+mj-lt"/>
              </a:rPr>
              <a:t> method embeds the robot’s full closed-loop dynamics directly into the trajectory generation process.</a:t>
            </a:r>
          </a:p>
          <a:p>
            <a:pPr lvl="0" algn="just" eaLnBrk="0" hangingPunct="0"/>
            <a:r>
              <a:rPr lang="en-US" sz="1600" dirty="0">
                <a:latin typeface="+mj-lt"/>
              </a:rPr>
              <a:t>Trajectory generation is performed using either </a:t>
            </a:r>
            <a:r>
              <a:rPr lang="en-US" sz="1600" b="1" dirty="0">
                <a:latin typeface="+mj-lt"/>
              </a:rPr>
              <a:t>hypersphere state switching</a:t>
            </a:r>
            <a:r>
              <a:rPr lang="en-US" sz="1600" dirty="0">
                <a:latin typeface="+mj-lt"/>
              </a:rPr>
              <a:t> or </a:t>
            </a:r>
            <a:r>
              <a:rPr lang="en-US" sz="1600" b="1" dirty="0">
                <a:latin typeface="+mj-lt"/>
              </a:rPr>
              <a:t>maximum-velocity switching</a:t>
            </a:r>
            <a:r>
              <a:rPr lang="en-US" sz="1600" dirty="0">
                <a:latin typeface="+mj-lt"/>
              </a:rPr>
              <a:t>, which regulate state transitions in joint space while preserving Cartesian path constraints</a:t>
            </a:r>
          </a:p>
          <a:p>
            <a:pPr lvl="0" algn="just" eaLnBrk="0" hangingPunct="0"/>
            <a:endParaRPr kumimoji="0" lang="en-US" altLang="en-US" sz="16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The advantages:</a:t>
            </a:r>
          </a:p>
          <a:p>
            <a:pPr marL="742950" lvl="1" indent="-285750" algn="just" eaLnBrk="0" hangingPunct="0">
              <a:buFont typeface="Arial" panose="020B0604020202020204" pitchFamily="34" charset="0"/>
              <a:buChar char="•"/>
            </a:pPr>
            <a:r>
              <a:rPr lang="en-US" altLang="en-US" sz="1600" b="1" dirty="0">
                <a:latin typeface="+mj-lt"/>
              </a:rPr>
              <a:t>fewer control points,</a:t>
            </a:r>
          </a:p>
          <a:p>
            <a:pPr marL="742950" lvl="1" indent="-285750" algn="just" eaLnBrk="0" hangingPunct="0">
              <a:buFont typeface="Arial" panose="020B0604020202020204" pitchFamily="34" charset="0"/>
              <a:buChar char="•"/>
            </a:pPr>
            <a:r>
              <a:rPr lang="en-US" altLang="en-US" sz="1600" b="1" dirty="0">
                <a:latin typeface="+mj-lt"/>
              </a:rPr>
              <a:t>efficient computation,</a:t>
            </a:r>
          </a:p>
          <a:p>
            <a:pPr marL="742950" lvl="1" indent="-285750" algn="just" eaLnBrk="0" hangingPunct="0">
              <a:buFont typeface="Arial" panose="020B0604020202020204" pitchFamily="34" charset="0"/>
              <a:buChar char="•"/>
            </a:pPr>
            <a:r>
              <a:rPr lang="en-US" altLang="en-US" sz="1600" b="1" dirty="0">
                <a:latin typeface="+mj-lt"/>
              </a:rPr>
              <a:t>continuity of position and velocity,</a:t>
            </a:r>
          </a:p>
          <a:p>
            <a:pPr marL="742950" lvl="1" indent="-285750" algn="just" eaLnBrk="0" hangingPunct="0">
              <a:buFont typeface="Arial" panose="020B0604020202020204" pitchFamily="34" charset="0"/>
              <a:buChar char="•"/>
            </a:pPr>
            <a:r>
              <a:rPr lang="en-US" altLang="en-US" sz="1600" b="1" dirty="0">
                <a:latin typeface="+mj-lt"/>
              </a:rPr>
              <a:t>simple speed adaption while preserving nominal path shape,</a:t>
            </a:r>
          </a:p>
          <a:p>
            <a:pPr marL="742950" lvl="1" indent="-285750" algn="just" eaLnBrk="0" hangingPunct="0">
              <a:buFont typeface="Arial" panose="020B0604020202020204" pitchFamily="34" charset="0"/>
              <a:buChar char="•"/>
            </a:pPr>
            <a:r>
              <a:rPr lang="en-US" altLang="en-US" sz="1600" b="1" dirty="0">
                <a:latin typeface="+mj-lt"/>
              </a:rPr>
              <a:t>implicit robot dynamics.</a:t>
            </a:r>
            <a:endParaRPr kumimoji="0" lang="en-US" altLang="en-US" sz="1600" b="1" i="0" u="none" strike="noStrike" cap="none" normalizeH="0" baseline="0" dirty="0">
              <a:ln>
                <a:noFill/>
              </a:ln>
              <a:solidFill>
                <a:schemeClr val="tx1"/>
              </a:solidFill>
              <a:effectLst/>
              <a:latin typeface="+mj-lt"/>
            </a:endParaRPr>
          </a:p>
        </p:txBody>
      </p:sp>
      <p:sp>
        <p:nvSpPr>
          <p:cNvPr id="21" name="TextBox 20">
            <a:extLst>
              <a:ext uri="{FF2B5EF4-FFF2-40B4-BE49-F238E27FC236}">
                <a16:creationId xmlns:a16="http://schemas.microsoft.com/office/drawing/2014/main" id="{8FBF420D-0400-02B9-AF96-850CAF97BC36}"/>
              </a:ext>
            </a:extLst>
          </p:cNvPr>
          <p:cNvSpPr txBox="1"/>
          <p:nvPr/>
        </p:nvSpPr>
        <p:spPr bwMode="auto">
          <a:xfrm>
            <a:off x="1243476" y="19468378"/>
            <a:ext cx="8292885" cy="436723"/>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3</a:t>
            </a:r>
            <a:r>
              <a:rPr lang="en-US" sz="1400" b="1" i="1" kern="0" dirty="0">
                <a:solidFill>
                  <a:schemeClr val="accent1"/>
                </a:solidFill>
                <a:latin typeface="Arial" panose="020B0604020202020204" pitchFamily="34" charset="0"/>
                <a:cs typeface="Arial" panose="020B0604020202020204" pitchFamily="34" charset="0"/>
              </a:rPr>
              <a:t>: </a:t>
            </a:r>
            <a:r>
              <a:rPr lang="en-US" sz="1400" i="1" kern="0" dirty="0">
                <a:solidFill>
                  <a:schemeClr val="accent1"/>
                </a:solidFill>
                <a:latin typeface="Arial" panose="020B0604020202020204" pitchFamily="34" charset="0"/>
                <a:cs typeface="Arial" panose="020B0604020202020204" pitchFamily="34" charset="0"/>
              </a:rPr>
              <a:t>Reference, simulation and physical trajectories( at normal and 4x speed), including the home position, target position, control points and the associated sphere.</a:t>
            </a:r>
            <a:endParaRPr lang="en-GB" sz="1400" i="1" kern="0" dirty="0">
              <a:solidFill>
                <a:schemeClr val="accent1"/>
              </a:solidFill>
              <a:latin typeface="Arial" panose="020B0604020202020204" pitchFamily="34" charset="0"/>
              <a:cs typeface="Arial" panose="020B0604020202020204" pitchFamily="34" charset="0"/>
            </a:endParaRPr>
          </a:p>
        </p:txBody>
      </p:sp>
      <p:graphicFrame>
        <p:nvGraphicFramePr>
          <p:cNvPr id="23" name="Table 22">
            <a:extLst>
              <a:ext uri="{FF2B5EF4-FFF2-40B4-BE49-F238E27FC236}">
                <a16:creationId xmlns:a16="http://schemas.microsoft.com/office/drawing/2014/main" id="{B59AE1B7-B500-5A1A-0AE6-60E662E412F2}"/>
              </a:ext>
            </a:extLst>
          </p:cNvPr>
          <p:cNvGraphicFramePr>
            <a:graphicFrameLocks noGrp="1"/>
          </p:cNvGraphicFramePr>
          <p:nvPr>
            <p:extLst>
              <p:ext uri="{D42A27DB-BD31-4B8C-83A1-F6EECF244321}">
                <p14:modId xmlns:p14="http://schemas.microsoft.com/office/powerpoint/2010/main" val="2729124144"/>
              </p:ext>
            </p:extLst>
          </p:nvPr>
        </p:nvGraphicFramePr>
        <p:xfrm>
          <a:off x="1025515" y="20344812"/>
          <a:ext cx="8895280" cy="1788160"/>
        </p:xfrm>
        <a:graphic>
          <a:graphicData uri="http://schemas.openxmlformats.org/drawingml/2006/table">
            <a:tbl>
              <a:tblPr firstRow="1" bandRow="1">
                <a:tableStyleId>{5C22544A-7EE6-4342-B048-85BDC9FD1C3A}</a:tableStyleId>
              </a:tblPr>
              <a:tblGrid>
                <a:gridCol w="2926575">
                  <a:extLst>
                    <a:ext uri="{9D8B030D-6E8A-4147-A177-3AD203B41FA5}">
                      <a16:colId xmlns:a16="http://schemas.microsoft.com/office/drawing/2014/main" val="2417381953"/>
                    </a:ext>
                  </a:extLst>
                </a:gridCol>
                <a:gridCol w="1193741">
                  <a:extLst>
                    <a:ext uri="{9D8B030D-6E8A-4147-A177-3AD203B41FA5}">
                      <a16:colId xmlns:a16="http://schemas.microsoft.com/office/drawing/2014/main" val="659178708"/>
                    </a:ext>
                  </a:extLst>
                </a:gridCol>
                <a:gridCol w="1193741">
                  <a:extLst>
                    <a:ext uri="{9D8B030D-6E8A-4147-A177-3AD203B41FA5}">
                      <a16:colId xmlns:a16="http://schemas.microsoft.com/office/drawing/2014/main" val="4261565438"/>
                    </a:ext>
                  </a:extLst>
                </a:gridCol>
                <a:gridCol w="1193741">
                  <a:extLst>
                    <a:ext uri="{9D8B030D-6E8A-4147-A177-3AD203B41FA5}">
                      <a16:colId xmlns:a16="http://schemas.microsoft.com/office/drawing/2014/main" val="1022516050"/>
                    </a:ext>
                  </a:extLst>
                </a:gridCol>
                <a:gridCol w="1193741">
                  <a:extLst>
                    <a:ext uri="{9D8B030D-6E8A-4147-A177-3AD203B41FA5}">
                      <a16:colId xmlns:a16="http://schemas.microsoft.com/office/drawing/2014/main" val="3843907607"/>
                    </a:ext>
                  </a:extLst>
                </a:gridCol>
                <a:gridCol w="1193741">
                  <a:extLst>
                    <a:ext uri="{9D8B030D-6E8A-4147-A177-3AD203B41FA5}">
                      <a16:colId xmlns:a16="http://schemas.microsoft.com/office/drawing/2014/main" val="1736619387"/>
                    </a:ext>
                  </a:extLst>
                </a:gridCol>
              </a:tblGrid>
              <a:tr h="370840">
                <a:tc>
                  <a:txBody>
                    <a:bodyPr/>
                    <a:lstStyle/>
                    <a:p>
                      <a:pPr algn="ctr"/>
                      <a:endParaRPr lang="en-GB" sz="1400" dirty="0"/>
                    </a:p>
                  </a:txBody>
                  <a:tcPr/>
                </a:tc>
                <a:tc>
                  <a:txBody>
                    <a:bodyPr/>
                    <a:lstStyle/>
                    <a:p>
                      <a:pPr algn="ctr"/>
                      <a:r>
                        <a:rPr lang="en-US" sz="1400" dirty="0"/>
                        <a:t>Target 1</a:t>
                      </a:r>
                      <a:endParaRPr lang="en-GB" sz="1400" dirty="0"/>
                    </a:p>
                  </a:txBody>
                  <a:tcPr/>
                </a:tc>
                <a:tc>
                  <a:txBody>
                    <a:bodyPr/>
                    <a:lstStyle/>
                    <a:p>
                      <a:pPr algn="ctr"/>
                      <a:r>
                        <a:rPr lang="en-US" sz="1400" dirty="0"/>
                        <a:t>Target 2</a:t>
                      </a:r>
                      <a:endParaRPr lang="en-GB" sz="1400" dirty="0"/>
                    </a:p>
                  </a:txBody>
                  <a:tcPr/>
                </a:tc>
                <a:tc>
                  <a:txBody>
                    <a:bodyPr/>
                    <a:lstStyle/>
                    <a:p>
                      <a:pPr algn="ctr"/>
                      <a:r>
                        <a:rPr lang="en-US" sz="1400" dirty="0"/>
                        <a:t>Target 3</a:t>
                      </a:r>
                      <a:endParaRPr lang="en-GB" sz="1400" dirty="0"/>
                    </a:p>
                  </a:txBody>
                  <a:tcPr/>
                </a:tc>
                <a:tc>
                  <a:txBody>
                    <a:bodyPr/>
                    <a:lstStyle/>
                    <a:p>
                      <a:pPr algn="ctr"/>
                      <a:r>
                        <a:rPr lang="en-US" sz="1400" dirty="0"/>
                        <a:t>Target 4</a:t>
                      </a:r>
                      <a:endParaRPr lang="en-GB" sz="1400" dirty="0"/>
                    </a:p>
                  </a:txBody>
                  <a:tcPr/>
                </a:tc>
                <a:tc>
                  <a:txBody>
                    <a:bodyPr/>
                    <a:lstStyle/>
                    <a:p>
                      <a:pPr algn="ctr"/>
                      <a:r>
                        <a:rPr lang="en-US" sz="1400" dirty="0"/>
                        <a:t>Target 5</a:t>
                      </a:r>
                      <a:endParaRPr lang="en-GB" sz="1400" dirty="0"/>
                    </a:p>
                  </a:txBody>
                  <a:tcPr/>
                </a:tc>
                <a:extLst>
                  <a:ext uri="{0D108BD9-81ED-4DB2-BD59-A6C34878D82A}">
                    <a16:rowId xmlns:a16="http://schemas.microsoft.com/office/drawing/2014/main" val="3991221483"/>
                  </a:ext>
                </a:extLst>
              </a:tr>
              <a:tr h="370840">
                <a:tc>
                  <a:txBody>
                    <a:bodyPr/>
                    <a:lstStyle/>
                    <a:p>
                      <a:r>
                        <a:rPr lang="en-US" sz="1400" b="1" dirty="0"/>
                        <a:t>Reference Trajectory </a:t>
                      </a:r>
                      <a:endParaRPr lang="en-GB" sz="1400" b="1" dirty="0"/>
                    </a:p>
                  </a:txBody>
                  <a:tcPr/>
                </a:tc>
                <a:tc>
                  <a:txBody>
                    <a:bodyPr/>
                    <a:lstStyle/>
                    <a:p>
                      <a:pPr algn="ctr"/>
                      <a:r>
                        <a:rPr lang="en-US" sz="1400" i="1" dirty="0"/>
                        <a:t>0.13 mm</a:t>
                      </a:r>
                      <a:endParaRPr lang="en-GB" sz="1400" i="1" dirty="0"/>
                    </a:p>
                  </a:txBody>
                  <a:tcPr/>
                </a:tc>
                <a:tc>
                  <a:txBody>
                    <a:bodyPr/>
                    <a:lstStyle/>
                    <a:p>
                      <a:pPr algn="ctr"/>
                      <a:r>
                        <a:rPr lang="en-US" sz="1400" i="1" dirty="0"/>
                        <a:t>0.03 mm</a:t>
                      </a:r>
                      <a:endParaRPr lang="en-GB" sz="1400" i="1" dirty="0"/>
                    </a:p>
                  </a:txBody>
                  <a:tcPr/>
                </a:tc>
                <a:tc>
                  <a:txBody>
                    <a:bodyPr/>
                    <a:lstStyle/>
                    <a:p>
                      <a:pPr algn="ctr"/>
                      <a:r>
                        <a:rPr lang="en-US" sz="1400" i="1" dirty="0"/>
                        <a:t>0.2 mm</a:t>
                      </a:r>
                      <a:endParaRPr lang="en-GB" sz="1400" i="1" dirty="0"/>
                    </a:p>
                  </a:txBody>
                  <a:tcPr/>
                </a:tc>
                <a:tc>
                  <a:txBody>
                    <a:bodyPr/>
                    <a:lstStyle/>
                    <a:p>
                      <a:pPr algn="ctr"/>
                      <a:r>
                        <a:rPr lang="en-US" sz="1400" i="1" dirty="0"/>
                        <a:t>0.12 mm</a:t>
                      </a:r>
                      <a:endParaRPr lang="en-GB" sz="1400" i="1" dirty="0"/>
                    </a:p>
                  </a:txBody>
                  <a:tcPr/>
                </a:tc>
                <a:tc>
                  <a:txBody>
                    <a:bodyPr/>
                    <a:lstStyle/>
                    <a:p>
                      <a:pPr algn="ctr"/>
                      <a:r>
                        <a:rPr lang="en-US" sz="1400" i="1" dirty="0"/>
                        <a:t>0.24 mm</a:t>
                      </a:r>
                      <a:endParaRPr lang="en-GB" sz="1400" i="1" dirty="0"/>
                    </a:p>
                  </a:txBody>
                  <a:tcPr/>
                </a:tc>
                <a:extLst>
                  <a:ext uri="{0D108BD9-81ED-4DB2-BD59-A6C34878D82A}">
                    <a16:rowId xmlns:a16="http://schemas.microsoft.com/office/drawing/2014/main" val="924302088"/>
                  </a:ext>
                </a:extLst>
              </a:tr>
              <a:tr h="370840">
                <a:tc>
                  <a:txBody>
                    <a:bodyPr/>
                    <a:lstStyle/>
                    <a:p>
                      <a:r>
                        <a:rPr lang="en-US" sz="1400" b="1" dirty="0"/>
                        <a:t>Simulation on digital twin</a:t>
                      </a:r>
                      <a:endParaRPr lang="en-GB" sz="1400" b="1" dirty="0"/>
                    </a:p>
                  </a:txBody>
                  <a:tcPr/>
                </a:tc>
                <a:tc>
                  <a:txBody>
                    <a:bodyPr/>
                    <a:lstStyle/>
                    <a:p>
                      <a:pPr algn="ctr"/>
                      <a:r>
                        <a:rPr lang="en-US" sz="1400" i="1" dirty="0"/>
                        <a:t>0.03 mm</a:t>
                      </a:r>
                      <a:endParaRPr lang="en-GB" sz="1400" i="1" dirty="0"/>
                    </a:p>
                  </a:txBody>
                  <a:tcPr/>
                </a:tc>
                <a:tc>
                  <a:txBody>
                    <a:bodyPr/>
                    <a:lstStyle/>
                    <a:p>
                      <a:pPr algn="ctr"/>
                      <a:r>
                        <a:rPr lang="en-US" sz="1400" i="1" dirty="0"/>
                        <a:t>0.1 mm</a:t>
                      </a:r>
                      <a:endParaRPr lang="en-GB" sz="1400" i="1" dirty="0"/>
                    </a:p>
                  </a:txBody>
                  <a:tcPr/>
                </a:tc>
                <a:tc>
                  <a:txBody>
                    <a:bodyPr/>
                    <a:lstStyle/>
                    <a:p>
                      <a:pPr algn="ctr"/>
                      <a:r>
                        <a:rPr lang="en-US" sz="1400" i="1" dirty="0"/>
                        <a:t>0.15 mm</a:t>
                      </a:r>
                      <a:endParaRPr lang="en-GB" sz="1400" i="1" dirty="0"/>
                    </a:p>
                  </a:txBody>
                  <a:tcPr/>
                </a:tc>
                <a:tc>
                  <a:txBody>
                    <a:bodyPr/>
                    <a:lstStyle/>
                    <a:p>
                      <a:pPr algn="ctr"/>
                      <a:r>
                        <a:rPr lang="en-US" sz="1400" i="1" dirty="0"/>
                        <a:t>0.19 mm</a:t>
                      </a:r>
                      <a:endParaRPr lang="en-GB" sz="1400" i="1" dirty="0"/>
                    </a:p>
                  </a:txBody>
                  <a:tcPr/>
                </a:tc>
                <a:tc>
                  <a:txBody>
                    <a:bodyPr/>
                    <a:lstStyle/>
                    <a:p>
                      <a:pPr algn="ctr"/>
                      <a:r>
                        <a:rPr lang="en-US" sz="1400" i="1" dirty="0"/>
                        <a:t>0.14 mm</a:t>
                      </a:r>
                      <a:endParaRPr lang="en-GB" sz="1400" i="1" dirty="0"/>
                    </a:p>
                  </a:txBody>
                  <a:tcPr/>
                </a:tc>
                <a:extLst>
                  <a:ext uri="{0D108BD9-81ED-4DB2-BD59-A6C34878D82A}">
                    <a16:rowId xmlns:a16="http://schemas.microsoft.com/office/drawing/2014/main" val="2335099053"/>
                  </a:ext>
                </a:extLst>
              </a:tr>
              <a:tr h="370840">
                <a:tc>
                  <a:txBody>
                    <a:bodyPr/>
                    <a:lstStyle/>
                    <a:p>
                      <a:r>
                        <a:rPr lang="en-US" sz="1400" b="1" dirty="0"/>
                        <a:t>Physical Robot at normal speed</a:t>
                      </a:r>
                      <a:endParaRPr lang="en-GB" sz="1400" b="1" dirty="0"/>
                    </a:p>
                  </a:txBody>
                  <a:tcPr/>
                </a:tc>
                <a:tc>
                  <a:txBody>
                    <a:bodyPr/>
                    <a:lstStyle/>
                    <a:p>
                      <a:pPr algn="ctr"/>
                      <a:r>
                        <a:rPr lang="en-US" sz="1400" i="1" dirty="0"/>
                        <a:t>0.16 mm</a:t>
                      </a:r>
                      <a:endParaRPr lang="en-GB" sz="1400" i="1" dirty="0"/>
                    </a:p>
                  </a:txBody>
                  <a:tcPr/>
                </a:tc>
                <a:tc>
                  <a:txBody>
                    <a:bodyPr/>
                    <a:lstStyle/>
                    <a:p>
                      <a:pPr algn="ctr"/>
                      <a:r>
                        <a:rPr lang="en-US" sz="1400" i="1" dirty="0"/>
                        <a:t>0.36 mm</a:t>
                      </a:r>
                      <a:endParaRPr lang="en-GB" sz="1400" i="1" dirty="0"/>
                    </a:p>
                  </a:txBody>
                  <a:tcPr/>
                </a:tc>
                <a:tc>
                  <a:txBody>
                    <a:bodyPr/>
                    <a:lstStyle/>
                    <a:p>
                      <a:pPr algn="ctr"/>
                      <a:r>
                        <a:rPr lang="en-US" sz="1400" i="1" dirty="0"/>
                        <a:t>0.15 mm</a:t>
                      </a:r>
                      <a:endParaRPr lang="en-GB" sz="1400" i="1" dirty="0"/>
                    </a:p>
                  </a:txBody>
                  <a:tcPr/>
                </a:tc>
                <a:tc>
                  <a:txBody>
                    <a:bodyPr/>
                    <a:lstStyle/>
                    <a:p>
                      <a:pPr algn="ctr"/>
                      <a:r>
                        <a:rPr lang="en-US" sz="1400" i="1" dirty="0"/>
                        <a:t>0.16 mm </a:t>
                      </a:r>
                      <a:endParaRPr lang="en-GB" sz="1400" i="1" dirty="0"/>
                    </a:p>
                  </a:txBody>
                  <a:tcPr/>
                </a:tc>
                <a:tc>
                  <a:txBody>
                    <a:bodyPr/>
                    <a:lstStyle/>
                    <a:p>
                      <a:pPr algn="ctr"/>
                      <a:r>
                        <a:rPr lang="en-US" sz="1400" i="1" dirty="0"/>
                        <a:t>0.53 mm</a:t>
                      </a:r>
                      <a:endParaRPr lang="en-GB" sz="1400" i="1" dirty="0"/>
                    </a:p>
                  </a:txBody>
                  <a:tcPr/>
                </a:tc>
                <a:extLst>
                  <a:ext uri="{0D108BD9-81ED-4DB2-BD59-A6C34878D82A}">
                    <a16:rowId xmlns:a16="http://schemas.microsoft.com/office/drawing/2014/main" val="4046613350"/>
                  </a:ext>
                </a:extLst>
              </a:tr>
              <a:tr h="0">
                <a:tc>
                  <a:txBody>
                    <a:bodyPr/>
                    <a:lstStyle/>
                    <a:p>
                      <a:r>
                        <a:rPr lang="en-US" sz="1400" b="1" dirty="0"/>
                        <a:t>Physical Robot at 4x speed</a:t>
                      </a:r>
                      <a:endParaRPr lang="en-GB" sz="1400" b="1" dirty="0"/>
                    </a:p>
                  </a:txBody>
                  <a:tcPr/>
                </a:tc>
                <a:tc>
                  <a:txBody>
                    <a:bodyPr/>
                    <a:lstStyle/>
                    <a:p>
                      <a:pPr algn="ctr"/>
                      <a:r>
                        <a:rPr lang="en-US" sz="1400" i="1" dirty="0"/>
                        <a:t>0.23 mm</a:t>
                      </a:r>
                      <a:endParaRPr lang="en-GB" sz="1400" i="1" dirty="0"/>
                    </a:p>
                  </a:txBody>
                  <a:tcPr/>
                </a:tc>
                <a:tc>
                  <a:txBody>
                    <a:bodyPr/>
                    <a:lstStyle/>
                    <a:p>
                      <a:pPr algn="ctr"/>
                      <a:r>
                        <a:rPr lang="en-US" sz="1400" i="1" dirty="0"/>
                        <a:t>0.47 mm</a:t>
                      </a:r>
                      <a:endParaRPr lang="en-GB" sz="1400" i="1" dirty="0"/>
                    </a:p>
                  </a:txBody>
                  <a:tcPr/>
                </a:tc>
                <a:tc>
                  <a:txBody>
                    <a:bodyPr/>
                    <a:lstStyle/>
                    <a:p>
                      <a:pPr algn="ctr"/>
                      <a:r>
                        <a:rPr lang="en-US" sz="1400" i="1" dirty="0"/>
                        <a:t>0.66 mm</a:t>
                      </a:r>
                      <a:endParaRPr lang="en-GB" sz="1400" i="1" dirty="0"/>
                    </a:p>
                  </a:txBody>
                  <a:tcPr/>
                </a:tc>
                <a:tc>
                  <a:txBody>
                    <a:bodyPr/>
                    <a:lstStyle/>
                    <a:p>
                      <a:pPr algn="ctr"/>
                      <a:r>
                        <a:rPr lang="en-US" sz="1400" i="1" dirty="0"/>
                        <a:t>0.6 mm</a:t>
                      </a:r>
                      <a:endParaRPr lang="en-GB" sz="1400" i="1" dirty="0"/>
                    </a:p>
                  </a:txBody>
                  <a:tcPr/>
                </a:tc>
                <a:tc>
                  <a:txBody>
                    <a:bodyPr/>
                    <a:lstStyle/>
                    <a:p>
                      <a:pPr algn="ctr"/>
                      <a:r>
                        <a:rPr lang="en-US" sz="1400" i="1" dirty="0"/>
                        <a:t>0.13 mm</a:t>
                      </a:r>
                      <a:endParaRPr lang="en-GB" sz="1400" i="1" dirty="0"/>
                    </a:p>
                  </a:txBody>
                  <a:tcPr/>
                </a:tc>
                <a:extLst>
                  <a:ext uri="{0D108BD9-81ED-4DB2-BD59-A6C34878D82A}">
                    <a16:rowId xmlns:a16="http://schemas.microsoft.com/office/drawing/2014/main" val="1245544230"/>
                  </a:ext>
                </a:extLst>
              </a:tr>
            </a:tbl>
          </a:graphicData>
        </a:graphic>
      </p:graphicFrame>
      <p:sp>
        <p:nvSpPr>
          <p:cNvPr id="22" name="TextBox 21">
            <a:extLst>
              <a:ext uri="{FF2B5EF4-FFF2-40B4-BE49-F238E27FC236}">
                <a16:creationId xmlns:a16="http://schemas.microsoft.com/office/drawing/2014/main" id="{9CE0BD2B-30A1-2D2B-09C8-D011DBAA4C69}"/>
              </a:ext>
            </a:extLst>
          </p:cNvPr>
          <p:cNvSpPr txBox="1"/>
          <p:nvPr/>
        </p:nvSpPr>
        <p:spPr bwMode="auto">
          <a:xfrm>
            <a:off x="375903" y="22187707"/>
            <a:ext cx="9748815" cy="210507"/>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Table 1: </a:t>
            </a:r>
            <a:r>
              <a:rPr lang="en-US" sz="1400" i="1" kern="0" dirty="0">
                <a:solidFill>
                  <a:schemeClr val="accent1"/>
                </a:solidFill>
                <a:latin typeface="Arial" panose="020B0604020202020204" pitchFamily="34" charset="0"/>
                <a:cs typeface="Arial" panose="020B0604020202020204" pitchFamily="34" charset="0"/>
              </a:rPr>
              <a:t>Minimum distances between trajectories and targets</a:t>
            </a:r>
            <a:endParaRPr lang="en-GB" sz="1400" i="1" kern="0" dirty="0">
              <a:solidFill>
                <a:schemeClr val="accent1"/>
              </a:solidFill>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E6C87C8A-556F-C800-6716-24F09F6DBC95}"/>
              </a:ext>
            </a:extLst>
          </p:cNvPr>
          <p:cNvGraphicFramePr>
            <a:graphicFrameLocks noGrp="1"/>
          </p:cNvGraphicFramePr>
          <p:nvPr>
            <p:extLst>
              <p:ext uri="{D42A27DB-BD31-4B8C-83A1-F6EECF244321}">
                <p14:modId xmlns:p14="http://schemas.microsoft.com/office/powerpoint/2010/main" val="3875496984"/>
              </p:ext>
            </p:extLst>
          </p:nvPr>
        </p:nvGraphicFramePr>
        <p:xfrm>
          <a:off x="12417321" y="20311792"/>
          <a:ext cx="6729095" cy="1854200"/>
        </p:xfrm>
        <a:graphic>
          <a:graphicData uri="http://schemas.openxmlformats.org/drawingml/2006/table">
            <a:tbl>
              <a:tblPr firstRow="1" bandRow="1">
                <a:tableStyleId>{5C22544A-7EE6-4342-B048-85BDC9FD1C3A}</a:tableStyleId>
              </a:tblPr>
              <a:tblGrid>
                <a:gridCol w="3322955">
                  <a:extLst>
                    <a:ext uri="{9D8B030D-6E8A-4147-A177-3AD203B41FA5}">
                      <a16:colId xmlns:a16="http://schemas.microsoft.com/office/drawing/2014/main" val="2769257342"/>
                    </a:ext>
                  </a:extLst>
                </a:gridCol>
                <a:gridCol w="1135380">
                  <a:extLst>
                    <a:ext uri="{9D8B030D-6E8A-4147-A177-3AD203B41FA5}">
                      <a16:colId xmlns:a16="http://schemas.microsoft.com/office/drawing/2014/main" val="1567842400"/>
                    </a:ext>
                  </a:extLst>
                </a:gridCol>
                <a:gridCol w="1135380">
                  <a:extLst>
                    <a:ext uri="{9D8B030D-6E8A-4147-A177-3AD203B41FA5}">
                      <a16:colId xmlns:a16="http://schemas.microsoft.com/office/drawing/2014/main" val="1930284546"/>
                    </a:ext>
                  </a:extLst>
                </a:gridCol>
                <a:gridCol w="1135380">
                  <a:extLst>
                    <a:ext uri="{9D8B030D-6E8A-4147-A177-3AD203B41FA5}">
                      <a16:colId xmlns:a16="http://schemas.microsoft.com/office/drawing/2014/main" val="855201990"/>
                    </a:ext>
                  </a:extLst>
                </a:gridCol>
              </a:tblGrid>
              <a:tr h="370840">
                <a:tc>
                  <a:txBody>
                    <a:bodyPr/>
                    <a:lstStyle/>
                    <a:p>
                      <a:pPr algn="ctr"/>
                      <a:endParaRPr lang="en-GB" sz="1400"/>
                    </a:p>
                  </a:txBody>
                  <a:tcPr/>
                </a:tc>
                <a:tc>
                  <a:txBody>
                    <a:bodyPr/>
                    <a:lstStyle/>
                    <a:p>
                      <a:pPr algn="ctr"/>
                      <a:r>
                        <a:rPr lang="en-US" sz="1400" dirty="0"/>
                        <a:t>Target 1</a:t>
                      </a:r>
                      <a:endParaRPr lang="en-GB" sz="1400" dirty="0"/>
                    </a:p>
                  </a:txBody>
                  <a:tcPr/>
                </a:tc>
                <a:tc>
                  <a:txBody>
                    <a:bodyPr/>
                    <a:lstStyle/>
                    <a:p>
                      <a:pPr algn="ctr"/>
                      <a:r>
                        <a:rPr lang="en-US" sz="1400" dirty="0"/>
                        <a:t>Target 2</a:t>
                      </a:r>
                      <a:endParaRPr lang="en-GB" sz="1400" dirty="0"/>
                    </a:p>
                  </a:txBody>
                  <a:tcPr/>
                </a:tc>
                <a:tc>
                  <a:txBody>
                    <a:bodyPr/>
                    <a:lstStyle/>
                    <a:p>
                      <a:pPr algn="ctr"/>
                      <a:r>
                        <a:rPr lang="en-US" sz="1400" dirty="0"/>
                        <a:t>Target 3</a:t>
                      </a:r>
                      <a:endParaRPr lang="en-GB" sz="1400" dirty="0"/>
                    </a:p>
                  </a:txBody>
                  <a:tcPr/>
                </a:tc>
                <a:extLst>
                  <a:ext uri="{0D108BD9-81ED-4DB2-BD59-A6C34878D82A}">
                    <a16:rowId xmlns:a16="http://schemas.microsoft.com/office/drawing/2014/main" val="1704655242"/>
                  </a:ext>
                </a:extLst>
              </a:tr>
              <a:tr h="370840">
                <a:tc>
                  <a:txBody>
                    <a:bodyPr/>
                    <a:lstStyle/>
                    <a:p>
                      <a:pPr algn="l"/>
                      <a:r>
                        <a:rPr lang="en-US" sz="1400" b="1" dirty="0"/>
                        <a:t>Reference Trajectory</a:t>
                      </a:r>
                      <a:endParaRPr lang="en-GB" sz="1400" b="1" dirty="0"/>
                    </a:p>
                  </a:txBody>
                  <a:tcPr/>
                </a:tc>
                <a:tc>
                  <a:txBody>
                    <a:bodyPr/>
                    <a:lstStyle/>
                    <a:p>
                      <a:pPr algn="ctr"/>
                      <a:r>
                        <a:rPr lang="en-GB" sz="1400" dirty="0"/>
                        <a:t>2.98 mm</a:t>
                      </a:r>
                    </a:p>
                  </a:txBody>
                  <a:tcPr/>
                </a:tc>
                <a:tc>
                  <a:txBody>
                    <a:bodyPr/>
                    <a:lstStyle/>
                    <a:p>
                      <a:pPr algn="ctr"/>
                      <a:r>
                        <a:rPr lang="en-GB" sz="1400" dirty="0"/>
                        <a:t>5.11 mm</a:t>
                      </a:r>
                    </a:p>
                  </a:txBody>
                  <a:tcPr/>
                </a:tc>
                <a:tc>
                  <a:txBody>
                    <a:bodyPr/>
                    <a:lstStyle/>
                    <a:p>
                      <a:pPr algn="ctr"/>
                      <a:r>
                        <a:rPr lang="en-GB" sz="1400" dirty="0"/>
                        <a:t>1.97 mm</a:t>
                      </a:r>
                    </a:p>
                  </a:txBody>
                  <a:tcPr/>
                </a:tc>
                <a:extLst>
                  <a:ext uri="{0D108BD9-81ED-4DB2-BD59-A6C34878D82A}">
                    <a16:rowId xmlns:a16="http://schemas.microsoft.com/office/drawing/2014/main" val="1557149017"/>
                  </a:ext>
                </a:extLst>
              </a:tr>
              <a:tr h="370840">
                <a:tc>
                  <a:txBody>
                    <a:bodyPr/>
                    <a:lstStyle/>
                    <a:p>
                      <a:pPr algn="l"/>
                      <a:r>
                        <a:rPr lang="en-US" sz="1400" b="1" dirty="0"/>
                        <a:t>Simulation on digital twin</a:t>
                      </a:r>
                      <a:endParaRPr lang="en-GB" sz="1400" b="1" dirty="0"/>
                    </a:p>
                  </a:txBody>
                  <a:tcPr/>
                </a:tc>
                <a:tc>
                  <a:txBody>
                    <a:bodyPr/>
                    <a:lstStyle/>
                    <a:p>
                      <a:pPr algn="ctr"/>
                      <a:r>
                        <a:rPr lang="en-GB" sz="1400" dirty="0"/>
                        <a:t>3.08 mm</a:t>
                      </a:r>
                    </a:p>
                  </a:txBody>
                  <a:tcPr/>
                </a:tc>
                <a:tc>
                  <a:txBody>
                    <a:bodyPr/>
                    <a:lstStyle/>
                    <a:p>
                      <a:pPr algn="ctr"/>
                      <a:r>
                        <a:rPr lang="en-GB" sz="1400" dirty="0"/>
                        <a:t>5.20 mm</a:t>
                      </a:r>
                    </a:p>
                  </a:txBody>
                  <a:tcPr/>
                </a:tc>
                <a:tc>
                  <a:txBody>
                    <a:bodyPr/>
                    <a:lstStyle/>
                    <a:p>
                      <a:pPr algn="ctr"/>
                      <a:r>
                        <a:rPr lang="en-GB" sz="1400" dirty="0"/>
                        <a:t>2.01 mm</a:t>
                      </a:r>
                    </a:p>
                  </a:txBody>
                  <a:tcPr/>
                </a:tc>
                <a:extLst>
                  <a:ext uri="{0D108BD9-81ED-4DB2-BD59-A6C34878D82A}">
                    <a16:rowId xmlns:a16="http://schemas.microsoft.com/office/drawing/2014/main" val="2106795411"/>
                  </a:ext>
                </a:extLst>
              </a:tr>
              <a:tr h="370840">
                <a:tc>
                  <a:txBody>
                    <a:bodyPr/>
                    <a:lstStyle/>
                    <a:p>
                      <a:pPr algn="l"/>
                      <a:r>
                        <a:rPr lang="en-US" sz="1400" b="1" dirty="0"/>
                        <a:t>Physical Robot at normal speed</a:t>
                      </a:r>
                      <a:endParaRPr lang="en-GB" sz="1400" b="1" dirty="0"/>
                    </a:p>
                  </a:txBody>
                  <a:tcPr/>
                </a:tc>
                <a:tc>
                  <a:txBody>
                    <a:bodyPr/>
                    <a:lstStyle/>
                    <a:p>
                      <a:pPr algn="ctr"/>
                      <a:r>
                        <a:rPr lang="en-GB" sz="1400" dirty="0"/>
                        <a:t>3.17 mm</a:t>
                      </a:r>
                    </a:p>
                  </a:txBody>
                  <a:tcPr/>
                </a:tc>
                <a:tc>
                  <a:txBody>
                    <a:bodyPr/>
                    <a:lstStyle/>
                    <a:p>
                      <a:pPr algn="ctr"/>
                      <a:r>
                        <a:rPr lang="en-GB" sz="1400" dirty="0"/>
                        <a:t>5.16 mm</a:t>
                      </a:r>
                    </a:p>
                  </a:txBody>
                  <a:tcPr/>
                </a:tc>
                <a:tc>
                  <a:txBody>
                    <a:bodyPr/>
                    <a:lstStyle/>
                    <a:p>
                      <a:pPr algn="ctr"/>
                      <a:r>
                        <a:rPr lang="en-GB" sz="1400" dirty="0"/>
                        <a:t>1.94 mm</a:t>
                      </a:r>
                    </a:p>
                  </a:txBody>
                  <a:tcPr/>
                </a:tc>
                <a:extLst>
                  <a:ext uri="{0D108BD9-81ED-4DB2-BD59-A6C34878D82A}">
                    <a16:rowId xmlns:a16="http://schemas.microsoft.com/office/drawing/2014/main" val="3626681923"/>
                  </a:ext>
                </a:extLst>
              </a:tr>
              <a:tr h="370840">
                <a:tc>
                  <a:txBody>
                    <a:bodyPr/>
                    <a:lstStyle/>
                    <a:p>
                      <a:pPr algn="l"/>
                      <a:r>
                        <a:rPr lang="en-US" sz="1400" b="1" dirty="0"/>
                        <a:t>Physical Robot at 4x speed</a:t>
                      </a:r>
                      <a:endParaRPr lang="en-GB" sz="1400" b="1" dirty="0"/>
                    </a:p>
                  </a:txBody>
                  <a:tcPr/>
                </a:tc>
                <a:tc>
                  <a:txBody>
                    <a:bodyPr/>
                    <a:lstStyle/>
                    <a:p>
                      <a:pPr algn="ctr"/>
                      <a:r>
                        <a:rPr lang="en-GB" sz="1400" dirty="0"/>
                        <a:t>2.68 mm</a:t>
                      </a:r>
                    </a:p>
                  </a:txBody>
                  <a:tcPr/>
                </a:tc>
                <a:tc>
                  <a:txBody>
                    <a:bodyPr/>
                    <a:lstStyle/>
                    <a:p>
                      <a:pPr algn="ctr"/>
                      <a:r>
                        <a:rPr lang="en-GB" sz="1400" dirty="0"/>
                        <a:t>7.89 mm</a:t>
                      </a:r>
                    </a:p>
                  </a:txBody>
                  <a:tcPr/>
                </a:tc>
                <a:tc>
                  <a:txBody>
                    <a:bodyPr/>
                    <a:lstStyle/>
                    <a:p>
                      <a:pPr algn="ctr"/>
                      <a:r>
                        <a:rPr lang="en-GB" sz="1400" dirty="0"/>
                        <a:t>1.99 mm</a:t>
                      </a:r>
                    </a:p>
                  </a:txBody>
                  <a:tcPr/>
                </a:tc>
                <a:extLst>
                  <a:ext uri="{0D108BD9-81ED-4DB2-BD59-A6C34878D82A}">
                    <a16:rowId xmlns:a16="http://schemas.microsoft.com/office/drawing/2014/main" val="247693081"/>
                  </a:ext>
                </a:extLst>
              </a:tr>
            </a:tbl>
          </a:graphicData>
        </a:graphic>
      </p:graphicFrame>
      <p:sp>
        <p:nvSpPr>
          <p:cNvPr id="28" name="TextBox 27">
            <a:extLst>
              <a:ext uri="{FF2B5EF4-FFF2-40B4-BE49-F238E27FC236}">
                <a16:creationId xmlns:a16="http://schemas.microsoft.com/office/drawing/2014/main" id="{B93E9063-743C-28C7-C3D8-B3F0B34B14F9}"/>
              </a:ext>
            </a:extLst>
          </p:cNvPr>
          <p:cNvSpPr txBox="1"/>
          <p:nvPr/>
        </p:nvSpPr>
        <p:spPr bwMode="auto">
          <a:xfrm>
            <a:off x="11407851" y="22266922"/>
            <a:ext cx="8748034" cy="210507"/>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Table 2: </a:t>
            </a:r>
            <a:r>
              <a:rPr lang="en-US" sz="1400" i="1" kern="0" dirty="0">
                <a:solidFill>
                  <a:schemeClr val="accent1"/>
                </a:solidFill>
                <a:latin typeface="Arial" panose="020B0604020202020204" pitchFamily="34" charset="0"/>
                <a:cs typeface="Arial" panose="020B0604020202020204" pitchFamily="34" charset="0"/>
              </a:rPr>
              <a:t>Minimum distances between trajectories and targets</a:t>
            </a:r>
            <a:endParaRPr lang="en-GB" sz="1400" kern="0" dirty="0">
              <a:solidFill>
                <a:schemeClr val="accent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63350C3-32B4-2CDA-44C1-6FD49405D777}"/>
              </a:ext>
            </a:extLst>
          </p:cNvPr>
          <p:cNvSpPr txBox="1"/>
          <p:nvPr/>
        </p:nvSpPr>
        <p:spPr bwMode="auto">
          <a:xfrm>
            <a:off x="11862587" y="19994097"/>
            <a:ext cx="8195693" cy="246221"/>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US" sz="1600" b="1" kern="0" dirty="0">
                <a:solidFill>
                  <a:schemeClr val="tx2"/>
                </a:solidFill>
                <a:latin typeface="Arial" panose="020B0604020202020204" pitchFamily="34" charset="0"/>
                <a:cs typeface="Arial" panose="020B0604020202020204" pitchFamily="34" charset="0"/>
              </a:rPr>
              <a:t>Minimum Distance Table</a:t>
            </a:r>
            <a:endParaRPr lang="en-GB" sz="1600" b="1" kern="0" dirty="0">
              <a:solidFill>
                <a:schemeClr val="tx2"/>
              </a:solidFill>
              <a:latin typeface="Arial" panose="020B0604020202020204" pitchFamily="34" charset="0"/>
              <a:cs typeface="Arial" panose="020B0604020202020204" pitchFamily="34" charset="0"/>
            </a:endParaRPr>
          </a:p>
        </p:txBody>
      </p:sp>
      <p:pic>
        <p:nvPicPr>
          <p:cNvPr id="18" name="Picture 17" descr="A machine on a table&#10;&#10;AI-generated content may be incorrect.">
            <a:extLst>
              <a:ext uri="{FF2B5EF4-FFF2-40B4-BE49-F238E27FC236}">
                <a16:creationId xmlns:a16="http://schemas.microsoft.com/office/drawing/2014/main" id="{347AB199-8454-D529-B646-4B32E4FFBB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6102" y="8456269"/>
            <a:ext cx="4155384" cy="4450838"/>
          </a:xfrm>
          <a:prstGeom prst="rect">
            <a:avLst/>
          </a:prstGeom>
        </p:spPr>
      </p:pic>
      <p:pic>
        <p:nvPicPr>
          <p:cNvPr id="30" name="Picture 29">
            <a:extLst>
              <a:ext uri="{FF2B5EF4-FFF2-40B4-BE49-F238E27FC236}">
                <a16:creationId xmlns:a16="http://schemas.microsoft.com/office/drawing/2014/main" id="{05CF398D-B07F-3E92-48DE-D293A28512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7632" y="8624050"/>
            <a:ext cx="12426384" cy="4224537"/>
          </a:xfrm>
          <a:prstGeom prst="rect">
            <a:avLst/>
          </a:prstGeom>
        </p:spPr>
      </p:pic>
      <p:sp>
        <p:nvSpPr>
          <p:cNvPr id="32" name="TextBox 31">
            <a:extLst>
              <a:ext uri="{FF2B5EF4-FFF2-40B4-BE49-F238E27FC236}">
                <a16:creationId xmlns:a16="http://schemas.microsoft.com/office/drawing/2014/main" id="{990B91AE-79D4-3122-6A84-5B1C091D8F0F}"/>
              </a:ext>
            </a:extLst>
          </p:cNvPr>
          <p:cNvSpPr txBox="1"/>
          <p:nvPr/>
        </p:nvSpPr>
        <p:spPr bwMode="auto">
          <a:xfrm>
            <a:off x="1330108" y="14222766"/>
            <a:ext cx="8286095" cy="246221"/>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GB" sz="1600" b="1" kern="0" dirty="0">
                <a:solidFill>
                  <a:schemeClr val="tx2"/>
                </a:solidFill>
                <a:latin typeface="Arial" panose="020B0604020202020204" pitchFamily="34" charset="0"/>
                <a:cs typeface="Arial" panose="020B0604020202020204" pitchFamily="34" charset="0"/>
              </a:rPr>
              <a:t>Cartesian Space Trajectories</a:t>
            </a:r>
          </a:p>
        </p:txBody>
      </p:sp>
      <p:sp>
        <p:nvSpPr>
          <p:cNvPr id="35" name="TextBox 34">
            <a:extLst>
              <a:ext uri="{FF2B5EF4-FFF2-40B4-BE49-F238E27FC236}">
                <a16:creationId xmlns:a16="http://schemas.microsoft.com/office/drawing/2014/main" id="{F4F04BAD-E07B-CDD3-AA68-C17A06CBFB0C}"/>
              </a:ext>
            </a:extLst>
          </p:cNvPr>
          <p:cNvSpPr txBox="1"/>
          <p:nvPr/>
        </p:nvSpPr>
        <p:spPr bwMode="auto">
          <a:xfrm>
            <a:off x="11772185" y="14246963"/>
            <a:ext cx="8286095" cy="246221"/>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GB" sz="1600" b="1" kern="0" dirty="0">
                <a:solidFill>
                  <a:schemeClr val="tx2"/>
                </a:solidFill>
                <a:latin typeface="Arial" panose="020B0604020202020204" pitchFamily="34" charset="0"/>
                <a:cs typeface="Arial" panose="020B0604020202020204" pitchFamily="34" charset="0"/>
              </a:rPr>
              <a:t>Cartesian Space Trajectories</a:t>
            </a:r>
          </a:p>
        </p:txBody>
      </p:sp>
      <p:sp>
        <p:nvSpPr>
          <p:cNvPr id="37" name="Rectangle 36">
            <a:extLst>
              <a:ext uri="{FF2B5EF4-FFF2-40B4-BE49-F238E27FC236}">
                <a16:creationId xmlns:a16="http://schemas.microsoft.com/office/drawing/2014/main" id="{A9A9820E-2BE1-38A3-7418-5315F0C5088B}"/>
              </a:ext>
            </a:extLst>
          </p:cNvPr>
          <p:cNvSpPr/>
          <p:nvPr/>
        </p:nvSpPr>
        <p:spPr bwMode="auto">
          <a:xfrm>
            <a:off x="4623346" y="23582316"/>
            <a:ext cx="2037736" cy="136283"/>
          </a:xfrm>
          <a:prstGeom prst="rect">
            <a:avLst/>
          </a:prstGeom>
          <a:solidFill>
            <a:srgbClr val="C8C8C8"/>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pic>
        <p:nvPicPr>
          <p:cNvPr id="3" name="Picture 2">
            <a:extLst>
              <a:ext uri="{FF2B5EF4-FFF2-40B4-BE49-F238E27FC236}">
                <a16:creationId xmlns:a16="http://schemas.microsoft.com/office/drawing/2014/main" id="{AC9B475B-2AEB-219B-1285-3601263713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6902" y="22884913"/>
            <a:ext cx="9281576" cy="4683269"/>
          </a:xfrm>
          <a:prstGeom prst="rect">
            <a:avLst/>
          </a:prstGeom>
        </p:spPr>
      </p:pic>
      <p:pic>
        <p:nvPicPr>
          <p:cNvPr id="6" name="Picture 5">
            <a:extLst>
              <a:ext uri="{FF2B5EF4-FFF2-40B4-BE49-F238E27FC236}">
                <a16:creationId xmlns:a16="http://schemas.microsoft.com/office/drawing/2014/main" id="{F053BF56-01F9-302A-C60B-6927E690E0D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44520" y="22930574"/>
            <a:ext cx="9263190" cy="4637607"/>
          </a:xfrm>
          <a:prstGeom prst="rect">
            <a:avLst/>
          </a:prstGeom>
        </p:spPr>
      </p:pic>
      <p:pic>
        <p:nvPicPr>
          <p:cNvPr id="16" name="Picture 15">
            <a:extLst>
              <a:ext uri="{FF2B5EF4-FFF2-40B4-BE49-F238E27FC236}">
                <a16:creationId xmlns:a16="http://schemas.microsoft.com/office/drawing/2014/main" id="{A62F0AC8-C8B3-098E-EC88-AF700255C4A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44520" y="14615439"/>
            <a:ext cx="9094150" cy="4790361"/>
          </a:xfrm>
          <a:prstGeom prst="rect">
            <a:avLst/>
          </a:prstGeom>
        </p:spPr>
      </p:pic>
      <p:pic>
        <p:nvPicPr>
          <p:cNvPr id="31" name="Picture 30">
            <a:extLst>
              <a:ext uri="{FF2B5EF4-FFF2-40B4-BE49-F238E27FC236}">
                <a16:creationId xmlns:a16="http://schemas.microsoft.com/office/drawing/2014/main" id="{F38CC0F0-8EAF-BD0D-487F-33601B077CD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4685" y="14564950"/>
            <a:ext cx="9330355" cy="4847856"/>
          </a:xfrm>
          <a:prstGeom prst="rect">
            <a:avLst/>
          </a:prstGeom>
        </p:spPr>
      </p:pic>
      <p:sp>
        <p:nvSpPr>
          <p:cNvPr id="39" name="TextBox 38">
            <a:extLst>
              <a:ext uri="{FF2B5EF4-FFF2-40B4-BE49-F238E27FC236}">
                <a16:creationId xmlns:a16="http://schemas.microsoft.com/office/drawing/2014/main" id="{E812D8ED-7AC9-FC07-062E-7BF1349E7EC3}"/>
              </a:ext>
            </a:extLst>
          </p:cNvPr>
          <p:cNvSpPr txBox="1"/>
          <p:nvPr/>
        </p:nvSpPr>
        <p:spPr bwMode="auto">
          <a:xfrm>
            <a:off x="1077711" y="12959610"/>
            <a:ext cx="6158888" cy="210507"/>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400" b="1" kern="0" dirty="0">
                <a:solidFill>
                  <a:schemeClr val="accent1"/>
                </a:solidFill>
                <a:latin typeface="Arial" panose="020B0604020202020204" pitchFamily="34" charset="0"/>
                <a:cs typeface="Arial" panose="020B0604020202020204" pitchFamily="34" charset="0"/>
              </a:rPr>
              <a:t>Figure 1:</a:t>
            </a:r>
            <a:r>
              <a:rPr lang="en-US" sz="1400" kern="0" dirty="0">
                <a:solidFill>
                  <a:schemeClr val="accent1"/>
                </a:solidFill>
                <a:latin typeface="Arial" panose="020B0604020202020204" pitchFamily="34" charset="0"/>
                <a:cs typeface="Arial" panose="020B0604020202020204" pitchFamily="34" charset="0"/>
              </a:rPr>
              <a:t> </a:t>
            </a:r>
            <a:r>
              <a:rPr lang="en-US" sz="1400" i="1" kern="0" dirty="0">
                <a:solidFill>
                  <a:schemeClr val="accent1"/>
                </a:solidFill>
                <a:latin typeface="Arial" panose="020B0604020202020204" pitchFamily="34" charset="0"/>
                <a:cs typeface="Arial" panose="020B0604020202020204" pitchFamily="34" charset="0"/>
              </a:rPr>
              <a:t>Physical Robot (Note force sensor not used in these experiments)</a:t>
            </a:r>
            <a:endParaRPr lang="en-GB" sz="1400" i="1" kern="0" dirty="0">
              <a:solidFill>
                <a:schemeClr val="accent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1452AD7-0D76-E087-548C-61F108B570FA}"/>
              </a:ext>
            </a:extLst>
          </p:cNvPr>
          <p:cNvSpPr txBox="1"/>
          <p:nvPr/>
        </p:nvSpPr>
        <p:spPr bwMode="auto">
          <a:xfrm>
            <a:off x="2986100" y="22603325"/>
            <a:ext cx="5312228" cy="210507"/>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GB" sz="1400" b="1" kern="0" dirty="0">
                <a:solidFill>
                  <a:schemeClr val="tx2"/>
                </a:solidFill>
                <a:latin typeface="Arial" panose="020B0604020202020204" pitchFamily="34" charset="0"/>
                <a:cs typeface="Arial" panose="020B0604020202020204" pitchFamily="34" charset="0"/>
              </a:rPr>
              <a:t>Joint Velocities</a:t>
            </a:r>
          </a:p>
        </p:txBody>
      </p:sp>
      <p:sp>
        <p:nvSpPr>
          <p:cNvPr id="4" name="TextBox 3">
            <a:extLst>
              <a:ext uri="{FF2B5EF4-FFF2-40B4-BE49-F238E27FC236}">
                <a16:creationId xmlns:a16="http://schemas.microsoft.com/office/drawing/2014/main" id="{2D198A3C-A681-F531-2BEC-F48C47FD1DC9}"/>
              </a:ext>
            </a:extLst>
          </p:cNvPr>
          <p:cNvSpPr txBox="1"/>
          <p:nvPr/>
        </p:nvSpPr>
        <p:spPr bwMode="auto">
          <a:xfrm>
            <a:off x="13235481" y="22667694"/>
            <a:ext cx="5312228" cy="210507"/>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GB" sz="1400" b="1" kern="0" dirty="0">
                <a:solidFill>
                  <a:schemeClr val="tx2"/>
                </a:solidFill>
                <a:latin typeface="Arial" panose="020B0604020202020204" pitchFamily="34" charset="0"/>
                <a:cs typeface="Arial" panose="020B0604020202020204" pitchFamily="34" charset="0"/>
              </a:rPr>
              <a:t>Joint Velocities</a:t>
            </a:r>
          </a:p>
        </p:txBody>
      </p:sp>
    </p:spTree>
    <p:extLst>
      <p:ext uri="{BB962C8B-B14F-4D97-AF65-F5344CB8AC3E}">
        <p14:creationId xmlns:p14="http://schemas.microsoft.com/office/powerpoint/2010/main" val="2517996512"/>
      </p:ext>
    </p:extLst>
  </p:cSld>
  <p:clrMapOvr>
    <a:masterClrMapping/>
  </p:clrMapOvr>
</p:sld>
</file>

<file path=ppt/theme/theme1.xml><?xml version="1.0" encoding="utf-8"?>
<a:theme xmlns:a="http://schemas.openxmlformats.org/drawingml/2006/main" name="UoR #CE4F2F">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UoR Conference 2022 portrait HT v2.pptx" id="{F18A0F39-BBEB-43DB-BFD6-81A744C52318}" vid="{8D687D27-B946-4FBA-8150-9F172FBFD3D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UoR #CE4F2F">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DA16372C-C8AE-4BEF-9AB6-EF282675B510}"/>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UoR #C74486">
  <a:themeElements>
    <a:clrScheme name="03 UoR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EDDCA094-D80C-4D1A-9F56-52CCF7C6B5E1}"/>
    </a:ext>
  </a:extLst>
</a:theme>
</file>

<file path=ppt/theme/theme6.xml><?xml version="1.0" encoding="utf-8"?>
<a:theme xmlns:a="http://schemas.openxmlformats.org/drawingml/2006/main" name="UoR #7F6BAE">
  <a:themeElements>
    <a:clrScheme name="04 UoR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52FD576F-A30F-42C3-B3D4-FC5E4D78EA82}"/>
    </a:ext>
  </a:extLst>
</a:theme>
</file>

<file path=ppt/theme/theme7.xml><?xml version="1.0" encoding="utf-8"?>
<a:theme xmlns:a="http://schemas.openxmlformats.org/drawingml/2006/main" name="UoR #6F7D14">
  <a:themeElements>
    <a:clrScheme name="05 UoR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AF9CF2F7-CEBC-4757-A562-538A8568A1B6}"/>
    </a:ext>
  </a:extLst>
</a:theme>
</file>

<file path=ppt/theme/theme8.xml><?xml version="1.0" encoding="utf-8"?>
<a:theme xmlns:a="http://schemas.openxmlformats.org/drawingml/2006/main" name="1_Rdg conference poster 2011portrait">
  <a:themeElements>
    <a:clrScheme name="06 UoR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1757E75D-6B58-43A6-AFC1-7824D5CC8EBB}"/>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rdg-conferences-portrait</Template>
  <TotalTime>2120</TotalTime>
  <Words>559</Words>
  <Application>Microsoft Office PowerPoint</Application>
  <PresentationFormat>Custom</PresentationFormat>
  <Paragraphs>87</Paragraphs>
  <Slides>1</Slides>
  <Notes>1</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1</vt:i4>
      </vt:variant>
    </vt:vector>
  </HeadingPairs>
  <TitlesOfParts>
    <vt:vector size="13" baseType="lpstr">
      <vt:lpstr>Aptos</vt:lpstr>
      <vt:lpstr>Aptos Display</vt:lpstr>
      <vt:lpstr>Arial</vt:lpstr>
      <vt:lpstr>Rdg Vesta</vt:lpstr>
      <vt:lpstr>UoR #CE4F2F</vt:lpstr>
      <vt:lpstr>1_Custom Design</vt:lpstr>
      <vt:lpstr>1_UoR #CE4F2F</vt:lpstr>
      <vt:lpstr>Custom Design</vt:lpstr>
      <vt:lpstr>UoR #C74486</vt:lpstr>
      <vt:lpstr>UoR #7F6BAE</vt:lpstr>
      <vt:lpstr>UoR #6F7D14</vt:lpstr>
      <vt:lpstr>1_Rdg conference poster 2011portrait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and conference poster</dc:subject>
  <dc:creator>Zeynep Busra Velioglu</dc:creator>
  <cp:lastModifiedBy>Koray Can Yigit</cp:lastModifiedBy>
  <cp:revision>38</cp:revision>
  <dcterms:created xsi:type="dcterms:W3CDTF">2025-05-28T11:04:17Z</dcterms:created>
  <dcterms:modified xsi:type="dcterms:W3CDTF">2025-12-16T10:41:12Z</dcterms:modified>
</cp:coreProperties>
</file>